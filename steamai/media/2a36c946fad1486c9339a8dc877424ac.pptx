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сандар тізбегі: Информатика мен алгебраның байланысы*</a:t>
            </a:r>
          </a:p>
          <a:p>
            <a:pPr>
              <a:spcAft>
                <a:spcPts val="800"/>
              </a:spcAft>
              <a:defRPr sz="1800">
                <a:latin typeface="Arial"/>
              </a:defRPr>
            </a:pPr>
            <a:r>
              <a:t>Армысыздар, құрметті оқушылар мен ұстаздар! Бүгінгі презентациямыздың мақсаты – информатика пәніндегі бір өлшемді массивтер ұғымы мен алгебра пәніндегі сандар тізбегі арасындағы тығыз байланысты көрсету. Бұл екі пәннің үйлесімі оқушылардың логикалық ойлау қабілетін арттырып, мәселелерді шешу дағдыларын дамытады. Біз бүгін осы байланыстың негізгі аспектілерін қарастырамыз және нақты мысалдармен түсіндіреміз.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массивтер*</a:t>
            </a:r>
          </a:p>
          <a:p>
            <a:pPr>
              <a:spcAft>
                <a:spcPts val="800"/>
              </a:spcAft>
              <a:defRPr sz="1800">
                <a:latin typeface="Arial"/>
              </a:defRPr>
            </a:pPr>
            <a:r>
              <a:t>Информатикада массив дегеніміз – бір атаумен біріктірілген, бір типтегі элементтердің реттелген жиынтығы. Бір өлшемді массив – бұл элементтердің бір қатарда орналасуы. Массивтің әрбір элементінің өз индексі болады, ол элементтің массивтегі орнын көрсетеді. Мысалы, a[0], a[1], a[2]... – массив элементтері. Массивтер деректерді сақтау және өңдеу үшін кеңінен қолданылады.</a:t>
            </a:r>
          </a:p>
          <a:p>
            <a:pPr>
              <a:spcAft>
                <a:spcPts val="800"/>
              </a:spcAft>
              <a:defRPr sz="1800">
                <a:latin typeface="Arial"/>
              </a:defRPr>
            </a:pPr>
            <a:r>
              <a:t>Дереккөз: Информатика, 9-сынып, Ә.Е.Бөрібаев, Б.Нақысбеков, Г.Мадиярова, "Арман-ПВ" баспасы, 2019 ж.</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Сандар тізбегі*</a:t>
            </a:r>
          </a:p>
          <a:p>
            <a:pPr>
              <a:spcAft>
                <a:spcPts val="800"/>
              </a:spcAft>
              <a:defRPr sz="1800">
                <a:latin typeface="Arial"/>
              </a:defRPr>
            </a:pPr>
            <a:r>
              <a:t>Алгебрада сандар тізбегі деп белгілі бір заңдылықпен реттелген сандардың жиынтығын айтамыз. Мысалы, арифметикалық прогрессия, геометриялық прогрессия және т.б. Сандар тізбегінің әрбір мүшесінің өз нөмірі болады, яғни бірінші мүше, екінші мүше және т.с.с. Сандар тізбегінің жалпы мүшесін табу – алгебраның маңызды міндеттерінің бірі.</a:t>
            </a:r>
          </a:p>
          <a:p>
            <a:pPr>
              <a:spcAft>
                <a:spcPts val="800"/>
              </a:spcAft>
              <a:defRPr sz="1800">
                <a:latin typeface="Arial"/>
              </a:defRPr>
            </a:pPr>
            <a:r>
              <a:t>Дереккөз: Алгебра, 9-сынып, Ә.Н.Шыныбеков, Д.Ә.Шыныбеков, "Атамұра" баспасы, 2019 ж.</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Массивтер және сандар тізбегі*</a:t>
            </a:r>
          </a:p>
          <a:p>
            <a:pPr>
              <a:spcAft>
                <a:spcPts val="800"/>
              </a:spcAft>
              <a:defRPr sz="1800">
                <a:latin typeface="Arial"/>
              </a:defRPr>
            </a:pPr>
            <a:r>
              <a:t>Информатикадағы бір өлшемді массивтер алгебрадағы сандар тізбегін сақтау және өңдеу үшін өте қолайлы құрал болып табылады. Массивтің әрбір элементі сандар тізбегінің бір мүшесін білдіреді. Программалау арқылы массивтерді пайдаланып, сандар тізбегінің қасиеттерін зерттеуге, қосындысын табуға, орташа мәнін есептеуге және т.б. амалдарды орындауға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сақтау және өңдеу*</a:t>
            </a:r>
          </a:p>
          <a:p>
            <a:pPr>
              <a:spcAft>
                <a:spcPts val="800"/>
              </a:spcAft>
              <a:defRPr sz="1800">
                <a:latin typeface="Arial"/>
              </a:defRPr>
            </a:pPr>
            <a:r>
              <a:t>Арифметикалық прогрессияның бірінші мүшесі a1 = 2, айырмасы d = 3 болсын. Осы прогрессияның алғашқы 10 мүшесін массивте сақтап, олардың қосындысын есептейік.</a:t>
            </a:r>
          </a:p>
          <a:p>
            <a:pPr>
              <a:spcAft>
                <a:spcPts val="800"/>
              </a:spcAft>
              <a:defRPr sz="1800">
                <a:latin typeface="Arial"/>
              </a:defRPr>
            </a:pPr>
            <a:r>
              <a:t>Программа коды (мысал):</a:t>
            </a:r>
          </a:p>
          <a:p>
            <a:pPr>
              <a:spcAft>
                <a:spcPts val="800"/>
              </a:spcAft>
              <a:defRPr sz="1800">
                <a:latin typeface="Arial"/>
              </a:defRPr>
            </a:pPr>
            <a:r>
              <a:t>```python</a:t>
            </a:r>
          </a:p>
          <a:p>
            <a:pPr>
              <a:spcAft>
                <a:spcPts val="800"/>
              </a:spcAft>
              <a:defRPr sz="1800">
                <a:latin typeface="Arial"/>
              </a:defRPr>
            </a:pPr>
            <a:r>
              <a:t>a1 = 2</a:t>
            </a:r>
          </a:p>
          <a:p>
            <a:pPr>
              <a:spcAft>
                <a:spcPts val="800"/>
              </a:spcAft>
              <a:defRPr sz="1800">
                <a:latin typeface="Arial"/>
              </a:defRPr>
            </a:pPr>
            <a:r>
              <a:t>d = 3</a:t>
            </a:r>
          </a:p>
          <a:p>
            <a:pPr>
              <a:spcAft>
                <a:spcPts val="800"/>
              </a:spcAft>
              <a:defRPr sz="1800">
                <a:latin typeface="Arial"/>
              </a:defRPr>
            </a:pPr>
            <a:r>
              <a:t>n = 10</a:t>
            </a:r>
          </a:p>
          <a:p>
            <a:pPr>
              <a:spcAft>
                <a:spcPts val="800"/>
              </a:spcAft>
              <a:defRPr sz="1800">
                <a:latin typeface="Arial"/>
              </a:defRPr>
            </a:pPr>
            <a:r>
              <a:t>array = [0] * n</a:t>
            </a:r>
          </a:p>
          <a:p>
            <a:pPr>
              <a:spcAft>
                <a:spcPts val="800"/>
              </a:spcAft>
              <a:defRPr sz="1800">
                <a:latin typeface="Arial"/>
              </a:defRPr>
            </a:pPr>
            <a:r>
              <a:t>array[0] = a1</a:t>
            </a:r>
          </a:p>
          <a:p>
            <a:pPr>
              <a:spcAft>
                <a:spcPts val="800"/>
              </a:spcAft>
              <a:defRPr sz="1800">
                <a:latin typeface="Arial"/>
              </a:defRPr>
            </a:pPr>
            <a:r>
              <a:t>for i in range(1, n):</a:t>
            </a:r>
          </a:p>
          <a:p>
            <a:pPr>
              <a:spcAft>
                <a:spcPts val="800"/>
              </a:spcAft>
              <a:defRPr sz="1800">
                <a:latin typeface="Arial"/>
              </a:defRPr>
            </a:pPr>
            <a:r>
              <a:t>array[i] = array[i-1] + d</a:t>
            </a:r>
          </a:p>
          <a:p>
            <a:pPr>
              <a:spcAft>
                <a:spcPts val="800"/>
              </a:spcAft>
              <a:defRPr sz="1800">
                <a:latin typeface="Arial"/>
              </a:defRPr>
            </a:pPr>
            <a:r>
              <a:t>sum = sum(array)</a:t>
            </a:r>
          </a:p>
          <a:p>
            <a:pPr>
              <a:spcAft>
                <a:spcPts val="800"/>
              </a:spcAft>
              <a:defRPr sz="1800">
                <a:latin typeface="Arial"/>
              </a:defRPr>
            </a:pPr>
            <a:r>
              <a:t>print("Арифметикалық прогрессия мүшелері:", array)</a:t>
            </a:r>
          </a:p>
          <a:p>
            <a:pPr>
              <a:spcAft>
                <a:spcPts val="800"/>
              </a:spcAft>
              <a:defRPr sz="1800">
                <a:latin typeface="Arial"/>
              </a:defRPr>
            </a:pPr>
            <a:r>
              <a:t>print("Арифметикалық прогрессия қосындысы:", sum)</a:t>
            </a:r>
          </a:p>
          <a:p>
            <a:pPr>
              <a:spcAft>
                <a:spcPts val="800"/>
              </a:spcAft>
              <a:defRPr sz="1800">
                <a:latin typeface="Arial"/>
              </a:defRPr>
            </a:pPr>
            <a:r>
              <a:t>```</a:t>
            </a:r>
          </a:p>
          <a:p>
            <a:pPr>
              <a:spcAft>
                <a:spcPts val="800"/>
              </a:spcAft>
              <a:defRPr sz="1800">
                <a:latin typeface="Arial"/>
              </a:defRPr>
            </a:pPr>
            <a:r>
              <a:t>Бұл мысал массивтердің сандар тізбегін өңдеуде қаншалықты тиімді екенін көрсетеді.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Біз бүгін информатика және алгебра пәндерінің арасындағы байланысты қарастырдық. Бір өлшемді массивтер алгебралық сандар тізбегін сақтау және өңдеу үшін таптырмас құрал болып табылады. Бұл байланыс оқушылардың пәндік білімдерін тереңдетіп, логикалық ойлау қабілеттерін дамытады. Информатика мен математиканың үйлесімі – заманауи білім берудің маңызды бөлігі.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9-сынып, Ә.Е.Бөрібаев, Б.Нақысбеков, Г.Мадиярова, "Арман-ПВ" баспасы, 2019 ж.</a:t>
            </a:r>
          </a:p>
          <a:p>
            <a:pPr lvl="1">
              <a:spcAft>
                <a:spcPts val="800"/>
              </a:spcAft>
              <a:defRPr sz="1600">
                <a:latin typeface="Arial"/>
              </a:defRPr>
            </a:pPr>
            <a:r>
              <a:t>2. Алгебра, 9-сынып, Ә.Н.Шыныбеков, Д.Ә.Шыныбеков, "Атамұра" баспасы, 2019 ж.</a:t>
            </a:r>
          </a:p>
          <a:p>
            <a:pPr>
              <a:spcAft>
                <a:spcPts val="800"/>
              </a:spcAft>
              <a:defRPr sz="1800">
                <a:latin typeface="Arial"/>
              </a:defRPr>
            </a:pPr>
            <a:r>
              <a:t>Осымен презентациямыз аяқталды. Назарларыңызға рахмет!</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