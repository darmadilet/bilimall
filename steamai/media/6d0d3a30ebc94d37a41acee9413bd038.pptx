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 Алгебралық есептерді шешудегі қолданысы"</a:t>
            </a:r>
          </a:p>
          <a:p>
            <a:pPr>
              <a:spcAft>
                <a:spcPts val="800"/>
              </a:spcAft>
              <a:defRPr sz="1800">
                <a:latin typeface="Arial"/>
              </a:defRPr>
            </a:pPr>
            <a:r>
              <a:t>Кіріспе:</a:t>
            </a:r>
          </a:p>
          <a:p>
            <a:pPr>
              <a:spcAft>
                <a:spcPts val="800"/>
              </a:spcAft>
              <a:defRPr sz="1800">
                <a:latin typeface="Arial"/>
              </a:defRPr>
            </a:pPr>
            <a:r>
              <a:t>Бүгінгі презентациямызда информатика мен жаратылыстану ғылымдарының, нақтырақ айтқанда, алгебра пәнінің арасындағы тығыз байланысты қарастырамыз. Біз бір өлшемді массивтердің алгебралық есептерді шешудегі тиімділігін зерттейміз. Массивтер – сандар тізбегін сақтау және өңдеу үшін қолданылатын қуатты құрал. Олар алгебралық есептеулерді автоматтандыруға және оңайлатуға мүмкіндік береді.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(вектор): Бір жолда орналасқан элементтердің тізбегі. Әрбір элементтің өз индексі болады.</a:t>
            </a:r>
          </a:p>
          <a:p>
            <a:pPr>
              <a:spcAft>
                <a:spcPts val="800"/>
              </a:spcAft>
              <a:defRPr sz="1800">
                <a:latin typeface="Arial"/>
              </a:defRPr>
            </a:pPr>
            <a:r>
              <a:t>*   Индекс: Массивтегі элементтің орнын көрсететін бүтін сан.</a:t>
            </a:r>
          </a:p>
          <a:p>
            <a:pPr>
              <a:spcAft>
                <a:spcPts val="800"/>
              </a:spcAft>
              <a:defRPr sz="1800">
                <a:latin typeface="Arial"/>
              </a:defRPr>
            </a:pPr>
            <a:r>
              <a:t>*   Алгебра: Математиканың сандар мен олардың қасиеттерін зерттейтін бөлімі.</a:t>
            </a:r>
          </a:p>
          <a:p>
            <a:pPr>
              <a:spcAft>
                <a:spcPts val="800"/>
              </a:spcAft>
              <a:defRPr sz="1800">
                <a:latin typeface="Arial"/>
              </a:defRPr>
            </a:pPr>
            <a:r>
              <a:t>*   Сандар тізбегі: Белгілі бір заңдылықпен орналасқан сандардың жиынтығы.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Алгебралық есептерді шешуде сандар тізбектерімен жұмыс істеу жиі кездеседі. Мысалы, арифметикалық прогрессияның қосындысын табу, квадрат теңдеудің түбірлерін есептеу, функцияның мәндерін табу және т.б. Бұл есептерді шешу үшін бір өлшемді массивтерді қолдану өте тиімді. Массивтер сандарды сақтауға, оларды реттеуге, іздеуге және әртүрлі амалдар қолдануға мүмкіндік береді.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a:t>
            </a:r>
          </a:p>
          <a:p>
            <a:pPr>
              <a:spcAft>
                <a:spcPts val="800"/>
              </a:spcAft>
              <a:defRPr sz="1800">
                <a:latin typeface="Arial"/>
              </a:defRPr>
            </a:pPr>
            <a:r>
              <a:t>Арифметикалық прогрессияның алғашқы n мүшесінің қосындысын есептеу.</a:t>
            </a:r>
          </a:p>
          <a:p>
            <a:pPr>
              <a:spcAft>
                <a:spcPts val="800"/>
              </a:spcAft>
              <a:defRPr sz="1800">
                <a:latin typeface="Arial"/>
              </a:defRPr>
            </a:pPr>
            <a:r>
              <a:t>Алгоритм:</a:t>
            </a:r>
          </a:p>
          <a:p>
            <a:pPr lvl="1">
              <a:spcAft>
                <a:spcPts val="800"/>
              </a:spcAft>
              <a:defRPr sz="1600">
                <a:latin typeface="Arial"/>
              </a:defRPr>
            </a:pPr>
            <a:r>
              <a:t>1.  Прогрессияның бірінші мүшесін (a1) және айырмасын (d) енгіземіз.</a:t>
            </a:r>
          </a:p>
          <a:p>
            <a:pPr lvl="1">
              <a:spcAft>
                <a:spcPts val="800"/>
              </a:spcAft>
              <a:defRPr sz="1600">
                <a:latin typeface="Arial"/>
              </a:defRPr>
            </a:pPr>
            <a:r>
              <a:t>2.  Массив құрамыз, оған прогрессияның алғашқы n мүшесін сақтаймыз.</a:t>
            </a:r>
          </a:p>
          <a:p>
            <a:pPr lvl="1">
              <a:spcAft>
                <a:spcPts val="800"/>
              </a:spcAft>
              <a:defRPr sz="1600">
                <a:latin typeface="Arial"/>
              </a:defRPr>
            </a:pPr>
            <a:r>
              <a:t>3.  Массив элементтерін қосып, қосындыны есептейміз.</a:t>
            </a:r>
          </a:p>
          <a:p>
            <a:pPr>
              <a:spcAft>
                <a:spcPts val="800"/>
              </a:spcAft>
              <a:defRPr sz="1800">
                <a:latin typeface="Arial"/>
              </a:defRPr>
            </a:pPr>
            <a:r>
              <a:t>Python коды (мысал):</a:t>
            </a:r>
          </a:p>
          <a:p>
            <a:pPr>
              <a:spcAft>
                <a:spcPts val="800"/>
              </a:spcAft>
              <a:defRPr sz="1800">
                <a:latin typeface="Arial"/>
              </a:defRPr>
            </a:pPr>
            <a:r>
              <a:t>```python</a:t>
            </a:r>
          </a:p>
          <a:p>
            <a:pPr>
              <a:spcAft>
                <a:spcPts val="800"/>
              </a:spcAft>
              <a:defRPr sz="1800">
                <a:latin typeface="Arial"/>
              </a:defRPr>
            </a:pPr>
            <a:r>
              <a:t>a1 = float(input("Бірінші мүшесін енгізіңіз: "))</a:t>
            </a:r>
          </a:p>
          <a:p>
            <a:pPr>
              <a:spcAft>
                <a:spcPts val="800"/>
              </a:spcAft>
              <a:defRPr sz="1800">
                <a:latin typeface="Arial"/>
              </a:defRPr>
            </a:pPr>
            <a:r>
              <a:t>d = float(input("Айырмасын енгізіңіз: "))</a:t>
            </a:r>
          </a:p>
          <a:p>
            <a:pPr>
              <a:spcAft>
                <a:spcPts val="800"/>
              </a:spcAft>
              <a:defRPr sz="1800">
                <a:latin typeface="Arial"/>
              </a:defRPr>
            </a:pPr>
            <a:r>
              <a:t>n = int(input("Мүшелер санын енгізіңіз: "))</a:t>
            </a:r>
          </a:p>
          <a:p>
            <a:pPr>
              <a:spcAft>
                <a:spcPts val="800"/>
              </a:spcAft>
              <a:defRPr sz="1800">
                <a:latin typeface="Arial"/>
              </a:defRPr>
            </a:pPr>
            <a:r>
              <a:t>a = []</a:t>
            </a:r>
          </a:p>
          <a:p>
            <a:pPr>
              <a:spcAft>
                <a:spcPts val="800"/>
              </a:spcAft>
              <a:defRPr sz="1800">
                <a:latin typeface="Arial"/>
              </a:defRPr>
            </a:pPr>
            <a:r>
              <a:t>s = 0</a:t>
            </a:r>
          </a:p>
          <a:p>
            <a:pPr>
              <a:spcAft>
                <a:spcPts val="800"/>
              </a:spcAft>
              <a:defRPr sz="1800">
                <a:latin typeface="Arial"/>
              </a:defRPr>
            </a:pPr>
            <a:r>
              <a:t>for i in range(n):</a:t>
            </a:r>
          </a:p>
          <a:p>
            <a:pPr>
              <a:spcAft>
                <a:spcPts val="800"/>
              </a:spcAft>
              <a:defRPr sz="1800">
                <a:latin typeface="Arial"/>
              </a:defRPr>
            </a:pPr>
            <a:r>
              <a:t>ai = a1 + i * d</a:t>
            </a:r>
          </a:p>
          <a:p>
            <a:pPr>
              <a:spcAft>
                <a:spcPts val="800"/>
              </a:spcAft>
              <a:defRPr sz="1800">
                <a:latin typeface="Arial"/>
              </a:defRPr>
            </a:pPr>
            <a:r>
              <a:t>a.append(ai)</a:t>
            </a:r>
          </a:p>
          <a:p>
            <a:pPr>
              <a:spcAft>
                <a:spcPts val="800"/>
              </a:spcAft>
              <a:defRPr sz="1800">
                <a:latin typeface="Arial"/>
              </a:defRPr>
            </a:pPr>
            <a:r>
              <a:t>s += ai</a:t>
            </a:r>
          </a:p>
          <a:p>
            <a:pPr>
              <a:spcAft>
                <a:spcPts val="800"/>
              </a:spcAft>
              <a:defRPr sz="1800">
                <a:latin typeface="Arial"/>
              </a:defRPr>
            </a:pPr>
            <a:r>
              <a:t>print("Прогрессия мүшелері:", a)</a:t>
            </a:r>
          </a:p>
          <a:p>
            <a:pPr>
              <a:spcAft>
                <a:spcPts val="800"/>
              </a:spcAft>
              <a:defRPr sz="1800">
                <a:latin typeface="Arial"/>
              </a:defRPr>
            </a:pPr>
            <a:r>
              <a:t>print("Қосындысы:", s)</a:t>
            </a:r>
          </a:p>
          <a:p>
            <a:pPr>
              <a:spcAft>
                <a:spcPts val="800"/>
              </a:spcAft>
              <a:defRPr sz="1800">
                <a:latin typeface="Arial"/>
              </a:defRPr>
            </a:pPr>
            <a:r>
              <a:t>```</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Тағы бір мысал: Квадрат теңдеудің түбірлерін табу.</a:t>
            </a:r>
          </a:p>
          <a:p>
            <a:pPr>
              <a:spcAft>
                <a:spcPts val="800"/>
              </a:spcAft>
              <a:defRPr sz="1800">
                <a:latin typeface="Arial"/>
              </a:defRPr>
            </a:pPr>
            <a:r>
              <a:t>Алгоритм:</a:t>
            </a:r>
          </a:p>
          <a:p>
            <a:pPr lvl="1">
              <a:spcAft>
                <a:spcPts val="800"/>
              </a:spcAft>
              <a:defRPr sz="1600">
                <a:latin typeface="Arial"/>
              </a:defRPr>
            </a:pPr>
            <a:r>
              <a:t>1. Квадрат теңдеудің коэффициенттерін енгіземіз: a, b, c.</a:t>
            </a:r>
          </a:p>
          <a:p>
            <a:pPr lvl="1">
              <a:spcAft>
                <a:spcPts val="800"/>
              </a:spcAft>
              <a:defRPr sz="1600">
                <a:latin typeface="Arial"/>
              </a:defRPr>
            </a:pPr>
            <a:r>
              <a:t>2. Дискриминантты есептейміз: D = b^2 - 4ac.</a:t>
            </a:r>
          </a:p>
          <a:p>
            <a:pPr lvl="1">
              <a:spcAft>
                <a:spcPts val="800"/>
              </a:spcAft>
              <a:defRPr sz="1600">
                <a:latin typeface="Arial"/>
              </a:defRPr>
            </a:pPr>
            <a:r>
              <a:t>3. Егер D &gt; 0 болса, екі нақты түбір бар: x1 = (-b + sqrt(D)) / (2a), x2 = (-b - sqrt(D)) / (2a).</a:t>
            </a:r>
          </a:p>
          <a:p>
            <a:pPr>
              <a:spcAft>
                <a:spcPts val="800"/>
              </a:spcAft>
              <a:defRPr sz="1800">
                <a:latin typeface="Arial"/>
              </a:defRPr>
            </a:pPr>
            <a:r>
              <a:t>4. Егер D = 0 болса, бір нақты түбір бар: x = -b / (2a).</a:t>
            </a:r>
          </a:p>
          <a:p>
            <a:pPr>
              <a:spcAft>
                <a:spcPts val="800"/>
              </a:spcAft>
              <a:defRPr sz="1800">
                <a:latin typeface="Arial"/>
              </a:defRPr>
            </a:pPr>
            <a:r>
              <a:t>5. Егер D &lt; 0 болса, нақты түбірлер жоқ.</a:t>
            </a:r>
          </a:p>
          <a:p>
            <a:pPr>
              <a:spcAft>
                <a:spcPts val="800"/>
              </a:spcAft>
              <a:defRPr sz="1800">
                <a:latin typeface="Arial"/>
              </a:defRPr>
            </a:pPr>
            <a:r>
              <a:t>Python коды (мысал):</a:t>
            </a:r>
          </a:p>
          <a:p>
            <a:pPr>
              <a:spcAft>
                <a:spcPts val="800"/>
              </a:spcAft>
              <a:defRPr sz="1800">
                <a:latin typeface="Arial"/>
              </a:defRPr>
            </a:pPr>
            <a:r>
              <a:t>```python</a:t>
            </a:r>
          </a:p>
          <a:p>
            <a:pPr>
              <a:spcAft>
                <a:spcPts val="800"/>
              </a:spcAft>
              <a:defRPr sz="1800">
                <a:latin typeface="Arial"/>
              </a:defRPr>
            </a:pPr>
            <a:r>
              <a:t>import math</a:t>
            </a:r>
          </a:p>
          <a:p>
            <a:pPr>
              <a:spcAft>
                <a:spcPts val="800"/>
              </a:spcAft>
              <a:defRPr sz="1800">
                <a:latin typeface="Arial"/>
              </a:defRPr>
            </a:pPr>
            <a:r>
              <a:t>a = float(input("a коэффициентін енгізіңіз: "))</a:t>
            </a:r>
          </a:p>
          <a:p>
            <a:pPr>
              <a:spcAft>
                <a:spcPts val="800"/>
              </a:spcAft>
              <a:defRPr sz="1800">
                <a:latin typeface="Arial"/>
              </a:defRPr>
            </a:pPr>
            <a:r>
              <a:t>b = float(input("b коэффициентін енгізіңіз: "))</a:t>
            </a:r>
          </a:p>
          <a:p>
            <a:pPr>
              <a:spcAft>
                <a:spcPts val="800"/>
              </a:spcAft>
              <a:defRPr sz="1800">
                <a:latin typeface="Arial"/>
              </a:defRPr>
            </a:pPr>
            <a:r>
              <a:t>c = float(input("c коэффициентін енгізіңіз: "))</a:t>
            </a:r>
          </a:p>
          <a:p>
            <a:pPr>
              <a:spcAft>
                <a:spcPts val="800"/>
              </a:spcAft>
              <a:defRPr sz="1800">
                <a:latin typeface="Arial"/>
              </a:defRPr>
            </a:pPr>
            <a:r>
              <a:t>D = b**2 - 4*a*c</a:t>
            </a:r>
          </a:p>
          <a:p>
            <a:pPr>
              <a:spcAft>
                <a:spcPts val="800"/>
              </a:spcAft>
              <a:defRPr sz="1800">
                <a:latin typeface="Arial"/>
              </a:defRPr>
            </a:pPr>
            <a:r>
              <a:t>if D &gt; 0:</a:t>
            </a:r>
          </a:p>
          <a:p>
            <a:pPr>
              <a:spcAft>
                <a:spcPts val="800"/>
              </a:spcAft>
              <a:defRPr sz="1800">
                <a:latin typeface="Arial"/>
              </a:defRPr>
            </a:pPr>
            <a:r>
              <a:t>x1 = (-b + math.sqrt(D)) / (2*a)</a:t>
            </a:r>
          </a:p>
          <a:p>
            <a:pPr>
              <a:spcAft>
                <a:spcPts val="800"/>
              </a:spcAft>
              <a:defRPr sz="1800">
                <a:latin typeface="Arial"/>
              </a:defRPr>
            </a:pPr>
            <a:r>
              <a:t>x2 = (-b - math.sqrt(D)) / (2*a)</a:t>
            </a:r>
          </a:p>
          <a:p>
            <a:pPr>
              <a:spcAft>
                <a:spcPts val="800"/>
              </a:spcAft>
              <a:defRPr sz="1800">
                <a:latin typeface="Arial"/>
              </a:defRPr>
            </a:pPr>
            <a:r>
              <a:t>print("Түбірлері: x1 =", x1, ", x2 =", x2)</a:t>
            </a:r>
          </a:p>
          <a:p>
            <a:pPr>
              <a:spcAft>
                <a:spcPts val="800"/>
              </a:spcAft>
              <a:defRPr sz="1800">
                <a:latin typeface="Arial"/>
              </a:defRPr>
            </a:pPr>
            <a:r>
              <a:t>elif D == 0:</a:t>
            </a:r>
          </a:p>
          <a:p>
            <a:pPr>
              <a:spcAft>
                <a:spcPts val="800"/>
              </a:spcAft>
              <a:defRPr sz="1800">
                <a:latin typeface="Arial"/>
              </a:defRPr>
            </a:pPr>
            <a:r>
              <a:t>x = -b / (2*a)</a:t>
            </a:r>
          </a:p>
          <a:p>
            <a:pPr>
              <a:spcAft>
                <a:spcPts val="800"/>
              </a:spcAft>
              <a:defRPr sz="1800">
                <a:latin typeface="Arial"/>
              </a:defRPr>
            </a:pPr>
            <a:r>
              <a:t>print("Түбірі: x =", x)</a:t>
            </a:r>
          </a:p>
          <a:p>
            <a:pPr>
              <a:spcAft>
                <a:spcPts val="800"/>
              </a:spcAft>
              <a:defRPr sz="1800">
                <a:latin typeface="Arial"/>
              </a:defRPr>
            </a:pPr>
            <a:r>
              <a:t>else:</a:t>
            </a:r>
          </a:p>
          <a:p>
            <a:pPr>
              <a:spcAft>
                <a:spcPts val="800"/>
              </a:spcAft>
              <a:defRPr sz="1800">
                <a:latin typeface="Arial"/>
              </a:defRPr>
            </a:pPr>
            <a:r>
              <a:t>print("Нақты түбірлер жоқ")</a:t>
            </a:r>
          </a:p>
          <a:p>
            <a:pPr>
              <a:spcAft>
                <a:spcPts val="800"/>
              </a:spcAft>
              <a:defRPr sz="1800">
                <a:latin typeface="Arial"/>
              </a:defRPr>
            </a:pPr>
            <a:r>
              <a:t>```</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Бір өлшемді массивтер алгебралық есептерді шешуде таптырмас құрал болып табылады. Олар сандар тізбектерін сақтауға, өңдеуге және әртүрлі есептеулер жүргізуге мүмкіндік береді. Информатика мен алгебраның байланысы есептеулерді автоматтандыруға және математикалық есептерді шешудің тиімді әдістерін жасауға жол ашады.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Информатика. 9 сынып. Авторы: Бельгибаев Ө.А. Баспа: "Арман-ПВ", 2019 ж. (okulyk.kz)</a:t>
            </a:r>
          </a:p>
          <a:p>
            <a:pPr lvl="1">
              <a:spcAft>
                <a:spcPts val="800"/>
              </a:spcAft>
              <a:defRPr sz="1600">
                <a:latin typeface="Arial"/>
              </a:defRPr>
            </a:pPr>
            <a:r>
              <a:t>2.  Алгебра. 9 сынып. Авторы: Ә.Е.Әбілқасымова, И.Бекбоев, А.Абдиев, З.Жұмағұлова. Баспа: "Мектеп", 2019 ж. (okulyk.kz)</a:t>
            </a:r>
          </a:p>
          <a:p>
            <a:pPr>
              <a:spcAft>
                <a:spcPts val="800"/>
              </a:spcAft>
              <a:defRPr sz="1800">
                <a:latin typeface="Arial"/>
              </a:defRPr>
            </a:pPr>
            <a:r>
              <a:t>Осымен презентациямыз аяқталды. Назарларыңызға рахмет!</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