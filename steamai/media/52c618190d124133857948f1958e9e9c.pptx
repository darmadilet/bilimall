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Информатика және жаратылыстану пәндерінің байланысы: Бір өлшемді массивтерді алгебралық есептерді шешуде қолдану</a:t>
            </a:r>
          </a:p>
          <a:p>
            <a:pPr>
              <a:spcAft>
                <a:spcPts val="800"/>
              </a:spcAft>
              <a:defRPr sz="1800">
                <a:latin typeface="Arial"/>
              </a:defRPr>
            </a:pPr>
            <a:r>
              <a:t>Кіріспе: Құрметті оқушылар мен ұстаздар! Бүгінгі презентациямызда информатика мен жаратылыстану ғылымдарының, атап айтқанда, алгебраның арасындағы тығыз байланысты қарастырамыз. Біз бір өлшемді массивтердің алгебралық есептерді шешудегі маңыздылығын ашып, пәнаралық байланыстың білім алудағы тиімділігін көрсетеміз.</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a:t>
            </a:r>
          </a:p>
          <a:p>
            <a:pPr>
              <a:spcAft>
                <a:spcPts val="800"/>
              </a:spcAft>
              <a:defRPr sz="1800">
                <a:latin typeface="Arial"/>
              </a:defRPr>
            </a:pPr>
            <a:r>
              <a:t>*   Бір өлшемді массив (массив): Бір типті мәліметтердің реттелген тізбегі. Әрбір элементтің өз индексі болады. Мысалы, сандар тізбегі: [2, 4, 6, 8, 10].</a:t>
            </a:r>
          </a:p>
          <a:p>
            <a:pPr>
              <a:spcAft>
                <a:spcPts val="800"/>
              </a:spcAft>
              <a:defRPr sz="1800">
                <a:latin typeface="Arial"/>
              </a:defRPr>
            </a:pPr>
            <a:r>
              <a:t>*   Алгебра: Математиканың сандар, теңдеулер және функциялар туралы бөлімі.</a:t>
            </a:r>
          </a:p>
          <a:p>
            <a:pPr>
              <a:spcAft>
                <a:spcPts val="800"/>
              </a:spcAft>
              <a:defRPr sz="1800">
                <a:latin typeface="Arial"/>
              </a:defRPr>
            </a:pPr>
            <a:r>
              <a:t>*   Сандар тізбегі: Белгілі бір заңдылықпен орналасқан сандардың жиынтығы. Мысалы, арифметикалық прогрессия, геометриялық прогрессия.</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a:t>
            </a:r>
          </a:p>
          <a:p>
            <a:pPr>
              <a:spcAft>
                <a:spcPts val="800"/>
              </a:spcAft>
              <a:defRPr sz="1800">
                <a:latin typeface="Arial"/>
              </a:defRPr>
            </a:pPr>
            <a:r>
              <a:t>Информатика алгебралық есептерді шешу үшін құрал ұсынады. Бір өлшемді массивтер сандар тізбегін сақтауға және өңдеуге мүмкіндік береді. Алгебралық есептерді шешу алгоритмдерін құру және оларды программалау арқылы есептеу процесін автоматтандыруға болады.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 Арифметикалық прогрессияның n-ші мүшесін табу</a:t>
            </a:r>
          </a:p>
          <a:p>
            <a:pPr>
              <a:spcAft>
                <a:spcPts val="800"/>
              </a:spcAft>
              <a:defRPr sz="1800">
                <a:latin typeface="Arial"/>
              </a:defRPr>
            </a:pPr>
            <a:r>
              <a:t>Алгебралық есеп: Арифметикалық прогрессияның бірінші мүшесі (a1) және айырмасы (d) берілген. n-ші мүшесін (an) табыңыз.</a:t>
            </a:r>
          </a:p>
          <a:p>
            <a:pPr>
              <a:spcAft>
                <a:spcPts val="800"/>
              </a:spcAft>
              <a:defRPr sz="1800">
                <a:latin typeface="Arial"/>
              </a:defRPr>
            </a:pPr>
            <a:r>
              <a:t>Информатикалық шешім:</a:t>
            </a:r>
          </a:p>
          <a:p>
            <a:pPr lvl="1">
              <a:spcAft>
                <a:spcPts val="800"/>
              </a:spcAft>
              <a:defRPr sz="1600">
                <a:latin typeface="Arial"/>
              </a:defRPr>
            </a:pPr>
            <a:r>
              <a:t>1.  a1 және d мәндерін енгіземіз.</a:t>
            </a:r>
          </a:p>
          <a:p>
            <a:pPr lvl="1">
              <a:spcAft>
                <a:spcPts val="800"/>
              </a:spcAft>
              <a:defRPr sz="1600">
                <a:latin typeface="Arial"/>
              </a:defRPr>
            </a:pPr>
            <a:r>
              <a:t>2.  n мәнін енгіземіз.</a:t>
            </a:r>
          </a:p>
          <a:p>
            <a:pPr lvl="1">
              <a:spcAft>
                <a:spcPts val="800"/>
              </a:spcAft>
              <a:defRPr sz="1600">
                <a:latin typeface="Arial"/>
              </a:defRPr>
            </a:pPr>
            <a:r>
              <a:t>3.  an = a1 + (n - 1) * d формуласын қолданып, n-ші мүшені есептейміз.</a:t>
            </a:r>
          </a:p>
          <a:p>
            <a:pPr>
              <a:spcAft>
                <a:spcPts val="800"/>
              </a:spcAft>
              <a:defRPr sz="1800">
                <a:latin typeface="Arial"/>
              </a:defRPr>
            </a:pPr>
            <a:r>
              <a:t>4.  Нәтижені экранға шығарамыз.</a:t>
            </a:r>
          </a:p>
          <a:p>
            <a:pPr>
              <a:spcAft>
                <a:spcPts val="800"/>
              </a:spcAft>
              <a:defRPr sz="1800">
                <a:latin typeface="Arial"/>
              </a:defRPr>
            </a:pPr>
            <a:r>
              <a:t>Программа коды (Python):</a:t>
            </a:r>
          </a:p>
          <a:p>
            <a:pPr>
              <a:spcAft>
                <a:spcPts val="800"/>
              </a:spcAft>
              <a:defRPr sz="1800">
                <a:latin typeface="Arial"/>
              </a:defRPr>
            </a:pPr>
            <a:r>
              <a:t>```python</a:t>
            </a:r>
          </a:p>
          <a:p>
            <a:pPr>
              <a:spcAft>
                <a:spcPts val="800"/>
              </a:spcAft>
              <a:defRPr sz="1800">
                <a:latin typeface="Arial"/>
              </a:defRPr>
            </a:pPr>
            <a:r>
              <a:t>a1 = float(input("Бірінші мүшесін енгізіңіз: "))</a:t>
            </a:r>
          </a:p>
          <a:p>
            <a:pPr>
              <a:spcAft>
                <a:spcPts val="800"/>
              </a:spcAft>
              <a:defRPr sz="1800">
                <a:latin typeface="Arial"/>
              </a:defRPr>
            </a:pPr>
            <a:r>
              <a:t>d = float(input("Айырмасын енгізіңіз: "))</a:t>
            </a:r>
          </a:p>
          <a:p>
            <a:pPr>
              <a:spcAft>
                <a:spcPts val="800"/>
              </a:spcAft>
              <a:defRPr sz="1800">
                <a:latin typeface="Arial"/>
              </a:defRPr>
            </a:pPr>
            <a:r>
              <a:t>n = int(input("Мүше нөмірін енгізіңіз: "))</a:t>
            </a:r>
          </a:p>
          <a:p>
            <a:pPr>
              <a:spcAft>
                <a:spcPts val="800"/>
              </a:spcAft>
              <a:defRPr sz="1800">
                <a:latin typeface="Arial"/>
              </a:defRPr>
            </a:pPr>
            <a:r>
              <a:t>an = a1 + (n - 1) * d</a:t>
            </a:r>
          </a:p>
          <a:p>
            <a:pPr>
              <a:spcAft>
                <a:spcPts val="800"/>
              </a:spcAft>
              <a:defRPr sz="1800">
                <a:latin typeface="Arial"/>
              </a:defRPr>
            </a:pPr>
            <a:r>
              <a:t>print(f"{n}-ші мүшесі: {an}")</a:t>
            </a:r>
          </a:p>
          <a:p>
            <a:pPr>
              <a:spcAft>
                <a:spcPts val="800"/>
              </a:spcAft>
              <a:defRPr sz="1800">
                <a:latin typeface="Arial"/>
              </a:defRPr>
            </a:pPr>
            <a:r>
              <a:t>```</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 (жалғасы): Геометриялық прогрессияның n-ші мүшесін табу</a:t>
            </a:r>
          </a:p>
          <a:p>
            <a:pPr>
              <a:spcAft>
                <a:spcPts val="800"/>
              </a:spcAft>
              <a:defRPr sz="1800">
                <a:latin typeface="Arial"/>
              </a:defRPr>
            </a:pPr>
            <a:r>
              <a:t>Алгебралық есеп: Геометриялық прогрессияның бірінші мүшесі (b1) және еселігі (q) берілген. n-ші мүшесін (bn) табыңыз.</a:t>
            </a:r>
          </a:p>
          <a:p>
            <a:pPr>
              <a:spcAft>
                <a:spcPts val="800"/>
              </a:spcAft>
              <a:defRPr sz="1800">
                <a:latin typeface="Arial"/>
              </a:defRPr>
            </a:pPr>
            <a:r>
              <a:t>Информатикалық шешім:</a:t>
            </a:r>
          </a:p>
          <a:p>
            <a:pPr lvl="1">
              <a:spcAft>
                <a:spcPts val="800"/>
              </a:spcAft>
              <a:defRPr sz="1600">
                <a:latin typeface="Arial"/>
              </a:defRPr>
            </a:pPr>
            <a:r>
              <a:t>1.  b1 және q мәндерін енгіземіз.</a:t>
            </a:r>
          </a:p>
          <a:p>
            <a:pPr lvl="1">
              <a:spcAft>
                <a:spcPts val="800"/>
              </a:spcAft>
              <a:defRPr sz="1600">
                <a:latin typeface="Arial"/>
              </a:defRPr>
            </a:pPr>
            <a:r>
              <a:t>2.  n мәнін енгіземіз.</a:t>
            </a:r>
          </a:p>
          <a:p>
            <a:pPr lvl="1">
              <a:spcAft>
                <a:spcPts val="800"/>
              </a:spcAft>
              <a:defRPr sz="1600">
                <a:latin typeface="Arial"/>
              </a:defRPr>
            </a:pPr>
            <a:r>
              <a:t>3.  bn = b1 * q^(n - 1) формуласын қолданып, n-ші мүшені есептейміз.</a:t>
            </a:r>
          </a:p>
          <a:p>
            <a:pPr>
              <a:spcAft>
                <a:spcPts val="800"/>
              </a:spcAft>
              <a:defRPr sz="1800">
                <a:latin typeface="Arial"/>
              </a:defRPr>
            </a:pPr>
            <a:r>
              <a:t>4.  Нәтижені экранға шығарамыз.</a:t>
            </a:r>
          </a:p>
          <a:p>
            <a:pPr>
              <a:spcAft>
                <a:spcPts val="800"/>
              </a:spcAft>
              <a:defRPr sz="1800">
                <a:latin typeface="Arial"/>
              </a:defRPr>
            </a:pPr>
            <a:r>
              <a:t>Программа коды (Python):</a:t>
            </a:r>
          </a:p>
          <a:p>
            <a:pPr>
              <a:spcAft>
                <a:spcPts val="800"/>
              </a:spcAft>
              <a:defRPr sz="1800">
                <a:latin typeface="Arial"/>
              </a:defRPr>
            </a:pPr>
            <a:r>
              <a:t>```python</a:t>
            </a:r>
          </a:p>
          <a:p>
            <a:pPr>
              <a:spcAft>
                <a:spcPts val="800"/>
              </a:spcAft>
              <a:defRPr sz="1800">
                <a:latin typeface="Arial"/>
              </a:defRPr>
            </a:pPr>
            <a:r>
              <a:t>b1 = float(input("Бірінші мүшесін енгізіңіз: "))</a:t>
            </a:r>
          </a:p>
          <a:p>
            <a:pPr>
              <a:spcAft>
                <a:spcPts val="800"/>
              </a:spcAft>
              <a:defRPr sz="1800">
                <a:latin typeface="Arial"/>
              </a:defRPr>
            </a:pPr>
            <a:r>
              <a:t>q = float(input("Еселігін енгізіңіз: "))</a:t>
            </a:r>
          </a:p>
          <a:p>
            <a:pPr>
              <a:spcAft>
                <a:spcPts val="800"/>
              </a:spcAft>
              <a:defRPr sz="1800">
                <a:latin typeface="Arial"/>
              </a:defRPr>
            </a:pPr>
            <a:r>
              <a:t>n = int(input("Мүше нөмірін енгізіңіз: "))</a:t>
            </a:r>
          </a:p>
          <a:p>
            <a:pPr>
              <a:spcAft>
                <a:spcPts val="800"/>
              </a:spcAft>
              <a:defRPr sz="1800">
                <a:latin typeface="Arial"/>
              </a:defRPr>
            </a:pPr>
            <a:r>
              <a:t>bn = b1 * (q ** (n - 1))</a:t>
            </a:r>
          </a:p>
          <a:p>
            <a:pPr>
              <a:spcAft>
                <a:spcPts val="800"/>
              </a:spcAft>
              <a:defRPr sz="1800">
                <a:latin typeface="Arial"/>
              </a:defRPr>
            </a:pPr>
            <a:r>
              <a:t>print(f"{n}-ші мүшесі: {bn}")</a:t>
            </a:r>
          </a:p>
          <a:p>
            <a:pPr>
              <a:spcAft>
                <a:spcPts val="800"/>
              </a:spcAft>
              <a:defRPr sz="1800">
                <a:latin typeface="Arial"/>
              </a:defRPr>
            </a:pPr>
            <a:r>
              <a:t>```</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Информатика және алгебра пәндерінің байланысы есептерді шешудің тиімді жолдарын ұсынады. Бір өлшемді массивтерді қолдану арқылы алгебралық есептерді программалауға және есептеу процесін жеңілдетуге болады. Бұл пәнаралық байланыс оқушылардың білім деңгейін арттырып, сыни ойлау қабілетін дамытады.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Пайдаланылған әдебиеттер:</a:t>
            </a:r>
          </a:p>
          <a:p>
            <a:pPr>
              <a:spcAft>
                <a:spcPts val="800"/>
              </a:spcAft>
              <a:defRPr sz="1800">
                <a:latin typeface="Arial"/>
              </a:defRPr>
            </a:pPr>
            <a:r>
              <a:t>*   Информатика. 9 сынып. Авторы: Б.Қ. Сағымбаева, Н.Е. Ермеков. "Арман-ПВ" баспасы, 2019 жыл. (okulyk.kz сайтынан)</a:t>
            </a:r>
          </a:p>
          <a:p>
            <a:pPr>
              <a:spcAft>
                <a:spcPts val="800"/>
              </a:spcAft>
              <a:defRPr sz="1800">
                <a:latin typeface="Arial"/>
              </a:defRPr>
            </a:pPr>
            <a:r>
              <a:t>*   Алгебра. 9 сынып. Авторы: А.Е. Әбілқасымова, И. Бекбоев, А. Абдиев, З. Жұмағұлова. "Мектеп" баспасы, 2019 жыл. (okulyk.kz сайтынан)</a:t>
            </a:r>
          </a:p>
          <a:p>
            <a:pPr>
              <a:spcAft>
                <a:spcPts val="800"/>
              </a:spcAft>
              <a:defRPr sz="1800">
                <a:latin typeface="Arial"/>
              </a:defRPr>
            </a:pPr>
            <a:r>
              <a:t>Назарларыңызға рахмет!</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