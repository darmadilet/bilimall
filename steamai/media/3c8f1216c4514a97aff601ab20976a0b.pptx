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Бір өлшемді массивтер және алгебралық сандар тізбектері: Информатика мен жаратылыстану пәндерінің байланысы</a:t>
            </a:r>
          </a:p>
          <a:p>
            <a:pPr>
              <a:spcAft>
                <a:spcPts val="800"/>
              </a:spcAft>
              <a:defRPr sz="1800">
                <a:latin typeface="Arial"/>
              </a:defRPr>
            </a:pPr>
            <a:r>
              <a:t>Мақсаты: Бір өлшемді массивтердің алгебралық сандар тізбектерімен байланысын ашып көрсету, информатика мен жаратылыстану пәндерінің өзара байланысын түсіндіру.</a:t>
            </a:r>
          </a:p>
          <a:p>
            <a:pPr>
              <a:spcAft>
                <a:spcPts val="800"/>
              </a:spcAft>
              <a:defRPr sz="1800">
                <a:latin typeface="Arial"/>
              </a:defRPr>
            </a:pPr>
            <a:r>
              <a:t>Міндеттері:</a:t>
            </a:r>
          </a:p>
          <a:p>
            <a:pPr>
              <a:spcAft>
                <a:spcPts val="800"/>
              </a:spcAft>
              <a:defRPr sz="1800">
                <a:latin typeface="Arial"/>
              </a:defRPr>
            </a:pPr>
            <a:r>
              <a:t>*   Бір өлшемді массив ұғымын түсіндіру.</a:t>
            </a:r>
          </a:p>
          <a:p>
            <a:pPr>
              <a:spcAft>
                <a:spcPts val="800"/>
              </a:spcAft>
              <a:defRPr sz="1800">
                <a:latin typeface="Arial"/>
              </a:defRPr>
            </a:pPr>
            <a:r>
              <a:t>*   Алгебралық сандар тізбектерінің түрлерін қарастыру.</a:t>
            </a:r>
          </a:p>
          <a:p>
            <a:pPr>
              <a:spcAft>
                <a:spcPts val="800"/>
              </a:spcAft>
              <a:defRPr sz="1800">
                <a:latin typeface="Arial"/>
              </a:defRPr>
            </a:pPr>
            <a:r>
              <a:t>*   Екі пәннің арасындағы байланысты көрсететін мысалдар келтіру.</a:t>
            </a:r>
          </a:p>
          <a:p>
            <a:pPr>
              <a:spcAft>
                <a:spcPts val="800"/>
              </a:spcAft>
              <a:defRPr sz="1800">
                <a:latin typeface="Arial"/>
              </a:defRPr>
            </a:pPr>
            <a:r>
              <a:t>*   Оқушылардың пәнаралық байланыс туралы түсінігін кеңейту.</a:t>
            </a:r>
          </a:p>
        </p:txBody>
      </p:sp>
      <p:sp>
        <p:nvSpPr>
          <p:cNvPr id="3" name="Title 2"/>
          <p:cNvSpPr>
            <a:spLocks noGrp="1"/>
          </p:cNvSpPr>
          <p:nvPr>
            <p:ph type="title"/>
          </p:nvPr>
        </p:nvSpPr>
        <p:spPr/>
        <p:txBody>
          <a:bodyPr/>
          <a:lstStyle/>
          <a:p>
            <a:pPr>
              <a:defRPr b="1" sz="2800">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a:t>
            </a:r>
          </a:p>
          <a:p>
            <a:pPr>
              <a:spcAft>
                <a:spcPts val="800"/>
              </a:spcAft>
              <a:defRPr sz="1800">
                <a:latin typeface="Arial"/>
              </a:defRPr>
            </a:pPr>
            <a:r>
              <a:t>*   Бір өлшемді массив (вектор) – бірдей типтегі элементтердің реттелген тізбегі. Әрбір элементтің өз индексі болады. Индекстер көбінесе 0-ден басталады. Мысалы: A = [2, 4, 6, 8, 10].</a:t>
            </a:r>
          </a:p>
          <a:p>
            <a:pPr>
              <a:spcAft>
                <a:spcPts val="800"/>
              </a:spcAft>
              <a:defRPr sz="1800">
                <a:latin typeface="Arial"/>
              </a:defRPr>
            </a:pPr>
            <a:r>
              <a:t>*   Алгебралық сандар тізбегі – белгілі бір заңдылықпен құрылған сандардың тізбегі. Мысалы: арифметикалық прогрессия, геометриялық прогрессия.</a:t>
            </a:r>
          </a:p>
          <a:p>
            <a:pPr>
              <a:spcAft>
                <a:spcPts val="800"/>
              </a:spcAft>
              <a:defRPr sz="1800">
                <a:latin typeface="Arial"/>
              </a:defRPr>
            </a:pPr>
            <a:r>
              <a:t>*   Арифметикалық прогрессия – әрбір келесі мүшесі алдыңғы мүшеге тұрақты санды қосқанда шығатын тізбек. Мысалы: 2, 5, 8, 11, 14... (айырмасы 3).</a:t>
            </a:r>
          </a:p>
          <a:p>
            <a:pPr>
              <a:spcAft>
                <a:spcPts val="800"/>
              </a:spcAft>
              <a:defRPr sz="1800">
                <a:latin typeface="Arial"/>
              </a:defRPr>
            </a:pPr>
            <a:r>
              <a:t>*   Геометриялық прогрессия – әрбір келесі мүшесі алдыңғы мүшені тұрақты санға көбейткенде шығатын тізбек. Мысалы: 3, 6, 12, 24, 48... (еселігі 2).</a:t>
            </a:r>
          </a:p>
        </p:txBody>
      </p:sp>
      <p:sp>
        <p:nvSpPr>
          <p:cNvPr id="3" name="Title 2"/>
          <p:cNvSpPr>
            <a:spLocks noGrp="1"/>
          </p:cNvSpPr>
          <p:nvPr>
            <p:ph type="title"/>
          </p:nvPr>
        </p:nvSpPr>
        <p:spPr/>
        <p:txBody>
          <a:bodyPr/>
          <a:lstStyle/>
          <a:p>
            <a:pPr>
              <a:defRPr b="1" sz="2800">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Информатика және алгебра: байланыс негізі</a:t>
            </a:r>
          </a:p>
          <a:p>
            <a:pPr>
              <a:spcAft>
                <a:spcPts val="800"/>
              </a:spcAft>
              <a:defRPr sz="1800">
                <a:latin typeface="Arial"/>
              </a:defRPr>
            </a:pPr>
            <a:r>
              <a:t>Информатикада массивтер деректерді сақтау және өңдеу үшін қолданылады. Алгебрада сандар тізбектері заңдылықтарды анықтау және есептеу үшін қолданылады. Екі пәннің ортақ байланысы – сандарды реттеу және олармен амалдар орындау.</a:t>
            </a:r>
          </a:p>
          <a:p>
            <a:pPr>
              <a:spcAft>
                <a:spcPts val="800"/>
              </a:spcAft>
              <a:defRPr sz="1800">
                <a:latin typeface="Arial"/>
              </a:defRPr>
            </a:pPr>
            <a:r>
              <a:t>Массивтерді сандар тізбектерін сақтау және өңдеу үшін пайдалануға болады. Мысалы, арифметикалық немесе геометриялық прогрессияның мүшелерін массивте сақтап, олардың қосындысын, көбейтіндісін табуға болады.</a:t>
            </a:r>
          </a:p>
        </p:txBody>
      </p:sp>
      <p:sp>
        <p:nvSpPr>
          <p:cNvPr id="3" name="Title 2"/>
          <p:cNvSpPr>
            <a:spLocks noGrp="1"/>
          </p:cNvSpPr>
          <p:nvPr>
            <p:ph type="title"/>
          </p:nvPr>
        </p:nvSpPr>
        <p:spPr/>
        <p:txBody>
          <a:bodyPr/>
          <a:lstStyle/>
          <a:p>
            <a:pPr>
              <a:defRPr b="1" sz="2800">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 Арифметикалық прогрессияны массивте сақтау және қосындысын есептеу</a:t>
            </a:r>
          </a:p>
          <a:p>
            <a:pPr>
              <a:spcAft>
                <a:spcPts val="800"/>
              </a:spcAft>
              <a:defRPr sz="1800">
                <a:latin typeface="Arial"/>
              </a:defRPr>
            </a:pPr>
            <a:r>
              <a:t>Арифметикалық прогрессия: 2, 4, 6, 8, 10</a:t>
            </a:r>
          </a:p>
          <a:p>
            <a:pPr>
              <a:spcAft>
                <a:spcPts val="800"/>
              </a:spcAft>
              <a:defRPr sz="1800">
                <a:latin typeface="Arial"/>
              </a:defRPr>
            </a:pPr>
            <a:r>
              <a:t>Python тілінде массивті құру:</a:t>
            </a:r>
          </a:p>
          <a:p>
            <a:pPr>
              <a:spcAft>
                <a:spcPts val="800"/>
              </a:spcAft>
              <a:defRPr sz="1800">
                <a:latin typeface="Arial"/>
              </a:defRPr>
            </a:pPr>
            <a:r>
              <a:t>```python</a:t>
            </a:r>
          </a:p>
          <a:p>
            <a:pPr>
              <a:spcAft>
                <a:spcPts val="800"/>
              </a:spcAft>
              <a:defRPr sz="1800">
                <a:latin typeface="Arial"/>
              </a:defRPr>
            </a:pPr>
            <a:r>
              <a:t>a = [2, 4, 6, 8, 10]</a:t>
            </a:r>
          </a:p>
          <a:p>
            <a:pPr>
              <a:spcAft>
                <a:spcPts val="800"/>
              </a:spcAft>
              <a:defRPr sz="1800">
                <a:latin typeface="Arial"/>
              </a:defRPr>
            </a:pPr>
            <a:r>
              <a:t>```</a:t>
            </a:r>
          </a:p>
          <a:p>
            <a:pPr>
              <a:spcAft>
                <a:spcPts val="800"/>
              </a:spcAft>
              <a:defRPr sz="1800">
                <a:latin typeface="Arial"/>
              </a:defRPr>
            </a:pPr>
            <a:r>
              <a:t>Прогрессия мүшелерінің қосындысын есептеу:</a:t>
            </a:r>
          </a:p>
          <a:p>
            <a:pPr>
              <a:spcAft>
                <a:spcPts val="800"/>
              </a:spcAft>
              <a:defRPr sz="1800">
                <a:latin typeface="Arial"/>
              </a:defRPr>
            </a:pPr>
            <a:r>
              <a:t>```python</a:t>
            </a:r>
          </a:p>
          <a:p>
            <a:pPr>
              <a:spcAft>
                <a:spcPts val="800"/>
              </a:spcAft>
              <a:defRPr sz="1800">
                <a:latin typeface="Arial"/>
              </a:defRPr>
            </a:pPr>
            <a:r>
              <a:t>sum = 0</a:t>
            </a:r>
          </a:p>
          <a:p>
            <a:pPr>
              <a:spcAft>
                <a:spcPts val="800"/>
              </a:spcAft>
              <a:defRPr sz="1800">
                <a:latin typeface="Arial"/>
              </a:defRPr>
            </a:pPr>
            <a:r>
              <a:t>for i in a:</a:t>
            </a:r>
          </a:p>
          <a:p>
            <a:pPr>
              <a:spcAft>
                <a:spcPts val="800"/>
              </a:spcAft>
              <a:defRPr sz="1800">
                <a:latin typeface="Arial"/>
              </a:defRPr>
            </a:pPr>
            <a:r>
              <a:t>sum += i</a:t>
            </a:r>
          </a:p>
          <a:p>
            <a:pPr>
              <a:spcAft>
                <a:spcPts val="800"/>
              </a:spcAft>
              <a:defRPr sz="1800">
                <a:latin typeface="Arial"/>
              </a:defRPr>
            </a:pPr>
            <a:r>
              <a:t>print(sum) # Нәтижесі: 30</a:t>
            </a:r>
          </a:p>
          <a:p>
            <a:pPr>
              <a:spcAft>
                <a:spcPts val="800"/>
              </a:spcAft>
              <a:defRPr sz="1800">
                <a:latin typeface="Arial"/>
              </a:defRPr>
            </a:pPr>
            <a:r>
              <a:t>```</a:t>
            </a:r>
          </a:p>
          <a:p>
            <a:pPr>
              <a:spcAft>
                <a:spcPts val="800"/>
              </a:spcAft>
              <a:defRPr sz="1800">
                <a:latin typeface="Arial"/>
              </a:defRPr>
            </a:pPr>
            <a:r>
              <a:t>Бұл мысалда массив арифметикалық прогрессияның мүшелерін сақтау үшін қолданылады, ал цикл осы мүшелердің қосындысын есептеуге мүмкіндік береді.</a:t>
            </a:r>
          </a:p>
        </p:txBody>
      </p:sp>
      <p:sp>
        <p:nvSpPr>
          <p:cNvPr id="3" name="Title 2"/>
          <p:cNvSpPr>
            <a:spLocks noGrp="1"/>
          </p:cNvSpPr>
          <p:nvPr>
            <p:ph type="title"/>
          </p:nvPr>
        </p:nvSpPr>
        <p:spPr/>
        <p:txBody>
          <a:bodyPr/>
          <a:lstStyle/>
          <a:p>
            <a:pPr>
              <a:defRPr b="1" sz="2800">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 Геометриялық прогрессияны массивте сақтау және көбейтіндісін есептеу</a:t>
            </a:r>
          </a:p>
          <a:p>
            <a:pPr>
              <a:spcAft>
                <a:spcPts val="800"/>
              </a:spcAft>
              <a:defRPr sz="1800">
                <a:latin typeface="Arial"/>
              </a:defRPr>
            </a:pPr>
            <a:r>
              <a:t>Геометриялық прогрессия: 3, 6, 12, 24, 48</a:t>
            </a:r>
          </a:p>
          <a:p>
            <a:pPr>
              <a:spcAft>
                <a:spcPts val="800"/>
              </a:spcAft>
              <a:defRPr sz="1800">
                <a:latin typeface="Arial"/>
              </a:defRPr>
            </a:pPr>
            <a:r>
              <a:t>Python тілінде массивті құру:</a:t>
            </a:r>
          </a:p>
          <a:p>
            <a:pPr>
              <a:spcAft>
                <a:spcPts val="800"/>
              </a:spcAft>
              <a:defRPr sz="1800">
                <a:latin typeface="Arial"/>
              </a:defRPr>
            </a:pPr>
            <a:r>
              <a:t>```python</a:t>
            </a:r>
          </a:p>
          <a:p>
            <a:pPr>
              <a:spcAft>
                <a:spcPts val="800"/>
              </a:spcAft>
              <a:defRPr sz="1800">
                <a:latin typeface="Arial"/>
              </a:defRPr>
            </a:pPr>
            <a:r>
              <a:t>g = [3, 6, 12, 24, 48]</a:t>
            </a:r>
          </a:p>
          <a:p>
            <a:pPr>
              <a:spcAft>
                <a:spcPts val="800"/>
              </a:spcAft>
              <a:defRPr sz="1800">
                <a:latin typeface="Arial"/>
              </a:defRPr>
            </a:pPr>
            <a:r>
              <a:t>```</a:t>
            </a:r>
          </a:p>
          <a:p>
            <a:pPr>
              <a:spcAft>
                <a:spcPts val="800"/>
              </a:spcAft>
              <a:defRPr sz="1800">
                <a:latin typeface="Arial"/>
              </a:defRPr>
            </a:pPr>
            <a:r>
              <a:t>Прогрессия мүшелерінің көбейтіндісін есептеу:</a:t>
            </a:r>
          </a:p>
          <a:p>
            <a:pPr>
              <a:spcAft>
                <a:spcPts val="800"/>
              </a:spcAft>
              <a:defRPr sz="1800">
                <a:latin typeface="Arial"/>
              </a:defRPr>
            </a:pPr>
            <a:r>
              <a:t>```python</a:t>
            </a:r>
          </a:p>
          <a:p>
            <a:pPr>
              <a:spcAft>
                <a:spcPts val="800"/>
              </a:spcAft>
              <a:defRPr sz="1800">
                <a:latin typeface="Arial"/>
              </a:defRPr>
            </a:pPr>
            <a:r>
              <a:t>product = 1</a:t>
            </a:r>
          </a:p>
          <a:p>
            <a:pPr>
              <a:spcAft>
                <a:spcPts val="800"/>
              </a:spcAft>
              <a:defRPr sz="1800">
                <a:latin typeface="Arial"/>
              </a:defRPr>
            </a:pPr>
            <a:r>
              <a:t>for i in g:</a:t>
            </a:r>
          </a:p>
          <a:p>
            <a:pPr>
              <a:spcAft>
                <a:spcPts val="800"/>
              </a:spcAft>
              <a:defRPr sz="1800">
                <a:latin typeface="Arial"/>
              </a:defRPr>
            </a:pPr>
            <a:r>
              <a:t>product *= i</a:t>
            </a:r>
          </a:p>
          <a:p>
            <a:pPr>
              <a:spcAft>
                <a:spcPts val="800"/>
              </a:spcAft>
              <a:defRPr sz="1800">
                <a:latin typeface="Arial"/>
              </a:defRPr>
            </a:pPr>
            <a:r>
              <a:t>print(product) # Нәтижесі: 20736</a:t>
            </a:r>
          </a:p>
          <a:p>
            <a:pPr>
              <a:spcAft>
                <a:spcPts val="800"/>
              </a:spcAft>
              <a:defRPr sz="1800">
                <a:latin typeface="Arial"/>
              </a:defRPr>
            </a:pPr>
            <a:r>
              <a:t>```</a:t>
            </a:r>
          </a:p>
          <a:p>
            <a:pPr>
              <a:spcAft>
                <a:spcPts val="800"/>
              </a:spcAft>
              <a:defRPr sz="1800">
                <a:latin typeface="Arial"/>
              </a:defRPr>
            </a:pPr>
            <a:r>
              <a:t>Бұл мысалда массив геометриялық прогрессияның мүшелерін сақтау үшін қолданылады, ал цикл осы мүшелердің көбейтіндісін есептеуге мүмкіндік береді.</a:t>
            </a:r>
          </a:p>
        </p:txBody>
      </p:sp>
      <p:sp>
        <p:nvSpPr>
          <p:cNvPr id="3" name="Title 2"/>
          <p:cNvSpPr>
            <a:spLocks noGrp="1"/>
          </p:cNvSpPr>
          <p:nvPr>
            <p:ph type="title"/>
          </p:nvPr>
        </p:nvSpPr>
        <p:spPr/>
        <p:txBody>
          <a:bodyPr/>
          <a:lstStyle/>
          <a:p>
            <a:pPr>
              <a:defRPr b="1" sz="2800">
                <a:solidFill>
                  <a:srgbClr val="005495"/>
                </a:solidFill>
                <a:latin typeface="Arial"/>
              </a:defRPr>
            </a:pPr>
            <a:r>
              <a:t>5-слайд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Информатика мен алгебра пәндерінің байланысы сандарды өңдеу және заңдылықтарды анықтау арқылы жүзеге асады. Бір өлшемді массивтер алгебралық сандар тізбектерін сақтау және олармен әртүрлі амалдар орындау үшін тиімді құрал болып табылады. Пәнаралық байланысты түсіну оқушылардың білім деңгейін арттырып, шығармашылық қабілеттерін дамытады.</a:t>
            </a:r>
          </a:p>
        </p:txBody>
      </p:sp>
      <p:sp>
        <p:nvSpPr>
          <p:cNvPr id="3" name="Title 2"/>
          <p:cNvSpPr>
            <a:spLocks noGrp="1"/>
          </p:cNvSpPr>
          <p:nvPr>
            <p:ph type="title"/>
          </p:nvPr>
        </p:nvSpPr>
        <p:spPr/>
        <p:txBody>
          <a:bodyPr/>
          <a:lstStyle/>
          <a:p>
            <a:pPr>
              <a:defRPr b="1" sz="2800">
                <a:solidFill>
                  <a:srgbClr val="005495"/>
                </a:solidFill>
                <a:latin typeface="Arial"/>
              </a:defRPr>
            </a:pPr>
            <a:r>
              <a:t>6-слайд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Пайдаланылған әдебиеттер:</a:t>
            </a:r>
          </a:p>
          <a:p>
            <a:pPr>
              <a:spcAft>
                <a:spcPts val="800"/>
              </a:spcAft>
              <a:defRPr sz="1800">
                <a:latin typeface="Arial"/>
              </a:defRPr>
            </a:pPr>
            <a:r>
              <a:t>*   Оқулық "Информатика" 9 сынып, авторлары: [Авторлардың аты-жөні], okulyk.kz</a:t>
            </a:r>
          </a:p>
          <a:p>
            <a:pPr>
              <a:spcAft>
                <a:spcPts val="800"/>
              </a:spcAft>
              <a:defRPr sz="1800">
                <a:latin typeface="Arial"/>
              </a:defRPr>
            </a:pPr>
            <a:r>
              <a:t>*   Оқулық "Алгебра" 9 сынып, авторлары: [Авторлардың аты-жөні], okulyk.kz</a:t>
            </a:r>
          </a:p>
          <a:p>
            <a:pPr>
              <a:spcAft>
                <a:spcPts val="800"/>
              </a:spcAft>
              <a:defRPr sz="1800">
                <a:latin typeface="Arial"/>
              </a:defRPr>
            </a:pPr>
            <a:r>
              <a:t>*   Python программалау тілінің ресми құжаттамасы.</a:t>
            </a:r>
          </a:p>
          <a:p>
            <a:pPr>
              <a:spcAft>
                <a:spcPts val="800"/>
              </a:spcAft>
              <a:defRPr sz="1800">
                <a:latin typeface="Arial"/>
              </a:defRPr>
            </a:pPr>
            <a:r>
              <a:t>Ескертпе: Нақты авторлардың аты-жөнін және оқулықтардың толық атауларын okulyk.kz сайтынан алып, жоғарыдағы тізімге енгізу қажет.</a:t>
            </a:r>
          </a:p>
        </p:txBody>
      </p:sp>
      <p:sp>
        <p:nvSpPr>
          <p:cNvPr id="3" name="Title 2"/>
          <p:cNvSpPr>
            <a:spLocks noGrp="1"/>
          </p:cNvSpPr>
          <p:nvPr>
            <p:ph type="title"/>
          </p:nvPr>
        </p:nvSpPr>
        <p:spPr/>
        <p:txBody>
          <a:bodyPr/>
          <a:lstStyle/>
          <a:p>
            <a:pPr>
              <a:defRPr b="1" sz="2800">
                <a:solidFill>
                  <a:srgbClr val="005495"/>
                </a:solidFill>
                <a:latin typeface="Arial"/>
              </a:defRPr>
            </a:pPr>
            <a:r>
              <a:t>7-слайд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