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Тақырыбы: "Бір өлшемді массивтер және сандар тізбегі: Информатика мен алгебраның байланысы"</a:t>
            </a:r>
          </a:p>
          <a:p>
            <a:pPr>
              <a:spcAft>
                <a:spcPts val="800"/>
              </a:spcAft>
              <a:defRPr sz="1800">
                <a:latin typeface="Arial"/>
              </a:defRPr>
            </a:pPr>
            <a:r>
              <a:t>Мақсаты: Бір өлшемді массивтер мен сандар тізбектері ұғымдарын зерттеу арқылы информатика мен алгебра пәндерінің өзара байланысын көрсету және оқушылардың пәндік білімдерін тереңдету.</a:t>
            </a:r>
          </a:p>
          <a:p>
            <a:pPr>
              <a:spcAft>
                <a:spcPts val="800"/>
              </a:spcAft>
              <a:defRPr sz="1800">
                <a:latin typeface="Arial"/>
              </a:defRPr>
            </a:pPr>
            <a:r>
              <a:t>Міндеттері:</a:t>
            </a:r>
          </a:p>
          <a:p>
            <a:pPr>
              <a:spcAft>
                <a:spcPts val="800"/>
              </a:spcAft>
              <a:defRPr sz="1800">
                <a:latin typeface="Arial"/>
              </a:defRPr>
            </a:pPr>
            <a:r>
              <a:t>*   Бір өлшемді массивтердің анықтамасын, қасиеттерін және қолданылуын қарастыру.</a:t>
            </a:r>
          </a:p>
          <a:p>
            <a:pPr>
              <a:spcAft>
                <a:spcPts val="800"/>
              </a:spcAft>
              <a:defRPr sz="1800">
                <a:latin typeface="Arial"/>
              </a:defRPr>
            </a:pPr>
            <a:r>
              <a:t>*   Алгебралық сандар тізбектерінің анықтамасын, түрлерін және қасиеттерін зерттеу.</a:t>
            </a:r>
          </a:p>
          <a:p>
            <a:pPr>
              <a:spcAft>
                <a:spcPts val="800"/>
              </a:spcAft>
              <a:defRPr sz="1800">
                <a:latin typeface="Arial"/>
              </a:defRPr>
            </a:pPr>
            <a:r>
              <a:t>*   Осы екі ұғымның арасындағы байланысты анықтап, мысалдар келтіру.</a:t>
            </a:r>
          </a:p>
          <a:p>
            <a:pPr>
              <a:spcAft>
                <a:spcPts val="800"/>
              </a:spcAft>
              <a:defRPr sz="1800">
                <a:latin typeface="Arial"/>
              </a:defRPr>
            </a:pPr>
            <a:r>
              <a:t>*   Оқушылардың логикалық ойлау, алгоритмдік құру және проблемаларды шешу дағдыларын дамыту.</a:t>
            </a:r>
          </a:p>
        </p:txBody>
      </p:sp>
      <p:sp>
        <p:nvSpPr>
          <p:cNvPr id="3" name="Title 2"/>
          <p:cNvSpPr>
            <a:spLocks noGrp="1"/>
          </p:cNvSpPr>
          <p:nvPr>
            <p:ph type="title"/>
          </p:nvPr>
        </p:nvSpPr>
        <p:spPr/>
        <p:txBody>
          <a:bodyPr/>
          <a:lstStyle/>
          <a:p>
            <a:pPr>
              <a:defRPr b="1" sz="2800">
                <a:solidFill>
                  <a:srgbClr val="005495"/>
                </a:solidFill>
                <a:latin typeface="Arial"/>
              </a:defRPr>
            </a:pPr>
            <a:r>
              <a:t>1-слайд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Бір өлшемді массивтер (информатика):</a:t>
            </a:r>
          </a:p>
          <a:p>
            <a:pPr>
              <a:spcAft>
                <a:spcPts val="800"/>
              </a:spcAft>
              <a:defRPr sz="1800">
                <a:latin typeface="Arial"/>
              </a:defRPr>
            </a:pPr>
            <a:r>
              <a:t>Анықтамасы: Бір өлшемді массив – бұл бірдей типтегі элементтердің реттелген тізбегі. Әрбір элементтің өз индексі болады, ол арқылы элементке қатынауға болады.</a:t>
            </a:r>
          </a:p>
          <a:p>
            <a:pPr>
              <a:spcAft>
                <a:spcPts val="800"/>
              </a:spcAft>
              <a:defRPr sz="1800">
                <a:latin typeface="Arial"/>
              </a:defRPr>
            </a:pPr>
            <a:r>
              <a:t>Қасиеттері:</a:t>
            </a:r>
          </a:p>
          <a:p>
            <a:pPr>
              <a:spcAft>
                <a:spcPts val="800"/>
              </a:spcAft>
              <a:defRPr sz="1800">
                <a:latin typeface="Arial"/>
              </a:defRPr>
            </a:pPr>
            <a:r>
              <a:t>*   Массив элементтерінің саны шектеулі.</a:t>
            </a:r>
          </a:p>
          <a:p>
            <a:pPr>
              <a:spcAft>
                <a:spcPts val="800"/>
              </a:spcAft>
              <a:defRPr sz="1800">
                <a:latin typeface="Arial"/>
              </a:defRPr>
            </a:pPr>
            <a:r>
              <a:t>*   Барлық элементтер бірдей типке жатады (мысалы, бүтін сандар, нақты сандар, символдар).</a:t>
            </a:r>
          </a:p>
          <a:p>
            <a:pPr>
              <a:spcAft>
                <a:spcPts val="800"/>
              </a:spcAft>
              <a:defRPr sz="1800">
                <a:latin typeface="Arial"/>
              </a:defRPr>
            </a:pPr>
            <a:r>
              <a:t>*   Элементтер жадыда қатар орналасады.</a:t>
            </a:r>
          </a:p>
          <a:p>
            <a:pPr>
              <a:spcAft>
                <a:spcPts val="800"/>
              </a:spcAft>
              <a:defRPr sz="1800">
                <a:latin typeface="Arial"/>
              </a:defRPr>
            </a:pPr>
            <a:r>
              <a:t>Қолданылуы:</a:t>
            </a:r>
          </a:p>
          <a:p>
            <a:pPr>
              <a:spcAft>
                <a:spcPts val="800"/>
              </a:spcAft>
              <a:defRPr sz="1800">
                <a:latin typeface="Arial"/>
              </a:defRPr>
            </a:pPr>
            <a:r>
              <a:t>*   Деректерді сақтау және өңдеу.</a:t>
            </a:r>
          </a:p>
          <a:p>
            <a:pPr>
              <a:spcAft>
                <a:spcPts val="800"/>
              </a:spcAft>
              <a:defRPr sz="1800">
                <a:latin typeface="Arial"/>
              </a:defRPr>
            </a:pPr>
            <a:r>
              <a:t>*   Алгоритмдерді және программаларды құру.</a:t>
            </a:r>
          </a:p>
          <a:p>
            <a:pPr>
              <a:spcAft>
                <a:spcPts val="800"/>
              </a:spcAft>
              <a:defRPr sz="1800">
                <a:latin typeface="Arial"/>
              </a:defRPr>
            </a:pPr>
            <a:r>
              <a:t>*   Математикалық есептеулер.</a:t>
            </a:r>
          </a:p>
          <a:p>
            <a:pPr>
              <a:spcAft>
                <a:spcPts val="800"/>
              </a:spcAft>
              <a:defRPr sz="1800">
                <a:latin typeface="Arial"/>
              </a:defRPr>
            </a:pPr>
            <a:r>
              <a:t>*   Мәліметтер базасын басқару жүйелерінде (МББЖ).</a:t>
            </a:r>
          </a:p>
        </p:txBody>
      </p:sp>
      <p:sp>
        <p:nvSpPr>
          <p:cNvPr id="3" name="Title 2"/>
          <p:cNvSpPr>
            <a:spLocks noGrp="1"/>
          </p:cNvSpPr>
          <p:nvPr>
            <p:ph type="title"/>
          </p:nvPr>
        </p:nvSpPr>
        <p:spPr/>
        <p:txBody>
          <a:bodyPr/>
          <a:lstStyle/>
          <a:p>
            <a:pPr>
              <a:defRPr b="1" sz="2800">
                <a:solidFill>
                  <a:srgbClr val="005495"/>
                </a:solidFill>
                <a:latin typeface="Arial"/>
              </a:defRPr>
            </a:pPr>
            <a:r>
              <a:t>2-слайд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Сандар тізбегі (алгебра):</a:t>
            </a:r>
          </a:p>
          <a:p>
            <a:pPr>
              <a:spcAft>
                <a:spcPts val="800"/>
              </a:spcAft>
              <a:defRPr sz="1800">
                <a:latin typeface="Arial"/>
              </a:defRPr>
            </a:pPr>
            <a:r>
              <a:t>Анықтамасы: Сандар тізбегі – бұл белгілі бір заңдылықпен реттелген сандардың жиынтығы.</a:t>
            </a:r>
          </a:p>
          <a:p>
            <a:pPr>
              <a:spcAft>
                <a:spcPts val="800"/>
              </a:spcAft>
              <a:defRPr sz="1800">
                <a:latin typeface="Arial"/>
              </a:defRPr>
            </a:pPr>
            <a:r>
              <a:t>Түрлері:</a:t>
            </a:r>
          </a:p>
          <a:p>
            <a:pPr>
              <a:spcAft>
                <a:spcPts val="800"/>
              </a:spcAft>
              <a:defRPr sz="1800">
                <a:latin typeface="Arial"/>
              </a:defRPr>
            </a:pPr>
            <a:r>
              <a:t>*   Арифметикалық прогрессия: Әрбір келесі мүше алдыңғы мүшеге тұрақты санды қосу арқылы алынады.</a:t>
            </a:r>
          </a:p>
          <a:p>
            <a:pPr>
              <a:spcAft>
                <a:spcPts val="800"/>
              </a:spcAft>
              <a:defRPr sz="1800">
                <a:latin typeface="Arial"/>
              </a:defRPr>
            </a:pPr>
            <a:r>
              <a:t>*   Геометриялық прогрессия: Әрбір келесі мүше алдыңғы мүшені тұрақты санға көбейту арқылы алынады.</a:t>
            </a:r>
          </a:p>
          <a:p>
            <a:pPr>
              <a:spcAft>
                <a:spcPts val="800"/>
              </a:spcAft>
              <a:defRPr sz="1800">
                <a:latin typeface="Arial"/>
              </a:defRPr>
            </a:pPr>
            <a:r>
              <a:t>*   Фибоначчи тізбегі: Әрбір келесі мүше алдыңғы екі мүшенің қосындысына тең.</a:t>
            </a:r>
          </a:p>
          <a:p>
            <a:pPr>
              <a:spcAft>
                <a:spcPts val="800"/>
              </a:spcAft>
              <a:defRPr sz="1800">
                <a:latin typeface="Arial"/>
              </a:defRPr>
            </a:pPr>
            <a:r>
              <a:t>Қасиеттері:</a:t>
            </a:r>
          </a:p>
          <a:p>
            <a:pPr>
              <a:spcAft>
                <a:spcPts val="800"/>
              </a:spcAft>
              <a:defRPr sz="1800">
                <a:latin typeface="Arial"/>
              </a:defRPr>
            </a:pPr>
            <a:r>
              <a:t>*   Тізбектің шексіз немесе шектеулі болуы мүмкін.</a:t>
            </a:r>
          </a:p>
          <a:p>
            <a:pPr>
              <a:spcAft>
                <a:spcPts val="800"/>
              </a:spcAft>
              <a:defRPr sz="1800">
                <a:latin typeface="Arial"/>
              </a:defRPr>
            </a:pPr>
            <a:r>
              <a:t>*   Әрбір тізбектің өзіне тән заңдылығы болады.</a:t>
            </a:r>
          </a:p>
          <a:p>
            <a:pPr>
              <a:spcAft>
                <a:spcPts val="800"/>
              </a:spcAft>
              <a:defRPr sz="1800">
                <a:latin typeface="Arial"/>
              </a:defRPr>
            </a:pPr>
            <a:r>
              <a:t>*   Тізбек мүшелерін табу үшін формула қолданылады.</a:t>
            </a:r>
          </a:p>
        </p:txBody>
      </p:sp>
      <p:sp>
        <p:nvSpPr>
          <p:cNvPr id="3" name="Title 2"/>
          <p:cNvSpPr>
            <a:spLocks noGrp="1"/>
          </p:cNvSpPr>
          <p:nvPr>
            <p:ph type="title"/>
          </p:nvPr>
        </p:nvSpPr>
        <p:spPr/>
        <p:txBody>
          <a:bodyPr/>
          <a:lstStyle/>
          <a:p>
            <a:pPr>
              <a:defRPr b="1" sz="2800">
                <a:solidFill>
                  <a:srgbClr val="005495"/>
                </a:solidFill>
                <a:latin typeface="Arial"/>
              </a:defRPr>
            </a:pPr>
            <a:r>
              <a:t>3-слайд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Информатика мен алгебраның байланысы:</a:t>
            </a:r>
          </a:p>
          <a:p>
            <a:pPr>
              <a:spcAft>
                <a:spcPts val="800"/>
              </a:spcAft>
              <a:defRPr sz="1800">
                <a:latin typeface="Arial"/>
              </a:defRPr>
            </a:pPr>
            <a:r>
              <a:t>Бір өлшемді массивтер – алгебралық сандар тізбектерін сақтау және өңдеу үшін тиімді құрылым.</a:t>
            </a:r>
          </a:p>
          <a:p>
            <a:pPr>
              <a:spcAft>
                <a:spcPts val="800"/>
              </a:spcAft>
              <a:defRPr sz="1800">
                <a:latin typeface="Arial"/>
              </a:defRPr>
            </a:pPr>
            <a:r>
              <a:t>Мысалдар:</a:t>
            </a:r>
          </a:p>
          <a:p>
            <a:pPr>
              <a:spcAft>
                <a:spcPts val="800"/>
              </a:spcAft>
              <a:defRPr sz="1800">
                <a:latin typeface="Arial"/>
              </a:defRPr>
            </a:pPr>
            <a:r>
              <a:t>*   Арифметикалық прогрессияны массивте сақтау: Массивтің әрбір элементі прогрессияның бір мүшесін білдіреді.</a:t>
            </a:r>
          </a:p>
          <a:p>
            <a:pPr>
              <a:spcAft>
                <a:spcPts val="800"/>
              </a:spcAft>
              <a:defRPr sz="1800">
                <a:latin typeface="Arial"/>
              </a:defRPr>
            </a:pPr>
            <a:r>
              <a:t>*   Геометриялық прогрессияны массивте сақтау: Массивтің әрбір элементі прогрессияның бір мүшесін білдіреді.</a:t>
            </a:r>
          </a:p>
          <a:p>
            <a:pPr>
              <a:spcAft>
                <a:spcPts val="800"/>
              </a:spcAft>
              <a:defRPr sz="1800">
                <a:latin typeface="Arial"/>
              </a:defRPr>
            </a:pPr>
            <a:r>
              <a:t>*   Фибоначчи тізбегін массивте сақтау: Массивтің әрбір элементі тізбектің бір мүшесін білдіреді.</a:t>
            </a:r>
          </a:p>
          <a:p>
            <a:pPr>
              <a:spcAft>
                <a:spcPts val="800"/>
              </a:spcAft>
              <a:defRPr sz="1800">
                <a:latin typeface="Arial"/>
              </a:defRPr>
            </a:pPr>
            <a:r>
              <a:t>Информатикалық алгоритмдерді қолдану арқылы сандар тізбектерін зерттеу және талдау мүмкіндігі бар. Мысалы, тізбектің белгілі бір мүшесін табу, қосындысын есептеу, т.б.</a:t>
            </a:r>
          </a:p>
        </p:txBody>
      </p:sp>
      <p:sp>
        <p:nvSpPr>
          <p:cNvPr id="3" name="Title 2"/>
          <p:cNvSpPr>
            <a:spLocks noGrp="1"/>
          </p:cNvSpPr>
          <p:nvPr>
            <p:ph type="title"/>
          </p:nvPr>
        </p:nvSpPr>
        <p:spPr/>
        <p:txBody>
          <a:bodyPr/>
          <a:lstStyle/>
          <a:p>
            <a:pPr>
              <a:defRPr b="1" sz="2800">
                <a:solidFill>
                  <a:srgbClr val="005495"/>
                </a:solidFill>
                <a:latin typeface="Arial"/>
              </a:defRPr>
            </a:pPr>
            <a:r>
              <a:t>4-слайд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a:t>
            </a:r>
          </a:p>
          <a:p>
            <a:pPr>
              <a:spcAft>
                <a:spcPts val="800"/>
              </a:spcAft>
              <a:defRPr sz="1800">
                <a:latin typeface="Arial"/>
              </a:defRPr>
            </a:pPr>
            <a:r>
              <a:t>Арифметикалық прогрессия: 2, 4, 6, 8, 10.</a:t>
            </a:r>
          </a:p>
          <a:p>
            <a:pPr>
              <a:spcAft>
                <a:spcPts val="800"/>
              </a:spcAft>
              <a:defRPr sz="1800">
                <a:latin typeface="Arial"/>
              </a:defRPr>
            </a:pPr>
            <a:r>
              <a:t>Информатикалық тұрғыдан: Бұл тізбекті массивте сақтауға болады: `array = [2, 4, 6, 8, 10]`.</a:t>
            </a:r>
          </a:p>
          <a:p>
            <a:pPr>
              <a:spcAft>
                <a:spcPts val="800"/>
              </a:spcAft>
              <a:defRPr sz="1800">
                <a:latin typeface="Arial"/>
              </a:defRPr>
            </a:pPr>
            <a:r>
              <a:t>Алгоритм:</a:t>
            </a:r>
          </a:p>
          <a:p>
            <a:pPr lvl="1">
              <a:spcAft>
                <a:spcPts val="800"/>
              </a:spcAft>
              <a:defRPr sz="1600">
                <a:latin typeface="Arial"/>
              </a:defRPr>
            </a:pPr>
            <a:r>
              <a:t>1.  Массивті құру.</a:t>
            </a:r>
          </a:p>
          <a:p>
            <a:pPr lvl="1">
              <a:spcAft>
                <a:spcPts val="800"/>
              </a:spcAft>
              <a:defRPr sz="1600">
                <a:latin typeface="Arial"/>
              </a:defRPr>
            </a:pPr>
            <a:r>
              <a:t>2.  Прогрессияның бірінші мүшесін және айырмасын анықтау.</a:t>
            </a:r>
          </a:p>
          <a:p>
            <a:pPr lvl="1">
              <a:spcAft>
                <a:spcPts val="800"/>
              </a:spcAft>
              <a:defRPr sz="1600">
                <a:latin typeface="Arial"/>
              </a:defRPr>
            </a:pPr>
            <a:r>
              <a:t>3.  Цикл арқылы массивтің әрбір элементін есептеу.</a:t>
            </a:r>
          </a:p>
          <a:p>
            <a:pPr>
              <a:spcAft>
                <a:spcPts val="800"/>
              </a:spcAft>
              <a:defRPr sz="1800">
                <a:latin typeface="Arial"/>
              </a:defRPr>
            </a:pPr>
            <a:r>
              <a:t>Алгебралық тұрғыдан:  `an = a1 + (n - 1) * d`, мұндағы `a1` - бірінші мүше, `d` - айырма, `n` - мүшенің нөмірі.</a:t>
            </a:r>
          </a:p>
        </p:txBody>
      </p:sp>
      <p:sp>
        <p:nvSpPr>
          <p:cNvPr id="3" name="Title 2"/>
          <p:cNvSpPr>
            <a:spLocks noGrp="1"/>
          </p:cNvSpPr>
          <p:nvPr>
            <p:ph type="title"/>
          </p:nvPr>
        </p:nvSpPr>
        <p:spPr/>
        <p:txBody>
          <a:bodyPr/>
          <a:lstStyle/>
          <a:p>
            <a:pPr>
              <a:defRPr b="1" sz="2800">
                <a:solidFill>
                  <a:srgbClr val="005495"/>
                </a:solidFill>
                <a:latin typeface="Arial"/>
              </a:defRPr>
            </a:pPr>
            <a:r>
              <a:t>5-слайд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Информатика мен алгебра – өзара тығыз байланысты пәндер. Бір өлшемді массивтер және сандар тізбектері ұғымдары осы байланыстың айқын көрінісі болып табылады. Информатикалық дағдылар алгебралық есептерді шешуде тиімді құрал болуы мүмкін, ал алгебралық білімдер информатикалық алгоритмдерді құруда және талдауда маңызды рөл атқарады. Бұл екі пәнді біріктіріп оқыту оқушылардың логикалық ойлау, проблемаларды шешу және алгоритмдік құру дағдыларын дамытуға ықпал етеді.</a:t>
            </a:r>
          </a:p>
        </p:txBody>
      </p:sp>
      <p:sp>
        <p:nvSpPr>
          <p:cNvPr id="3" name="Title 2"/>
          <p:cNvSpPr>
            <a:spLocks noGrp="1"/>
          </p:cNvSpPr>
          <p:nvPr>
            <p:ph type="title"/>
          </p:nvPr>
        </p:nvSpPr>
        <p:spPr/>
        <p:txBody>
          <a:bodyPr/>
          <a:lstStyle/>
          <a:p>
            <a:pPr>
              <a:defRPr b="1" sz="2800">
                <a:solidFill>
                  <a:srgbClr val="005495"/>
                </a:solidFill>
                <a:latin typeface="Arial"/>
              </a:defRPr>
            </a:pPr>
            <a:r>
              <a:t>6-слайд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Пайдаланылған әдебиеттер:</a:t>
            </a:r>
          </a:p>
          <a:p>
            <a:pPr lvl="1">
              <a:spcAft>
                <a:spcPts val="800"/>
              </a:spcAft>
              <a:defRPr sz="1600">
                <a:latin typeface="Arial"/>
              </a:defRPr>
            </a:pPr>
            <a:r>
              <a:t>1.  Информатика. 9 сынып. Авторы: Бельгибаев Ө.А., Бельгибаева Г.К. "Алматыкітап баспасы" ЖШС, 2019 ж. (okulyk.kz)</a:t>
            </a:r>
          </a:p>
          <a:p>
            <a:pPr lvl="1">
              <a:spcAft>
                <a:spcPts val="800"/>
              </a:spcAft>
              <a:defRPr sz="1600">
                <a:latin typeface="Arial"/>
              </a:defRPr>
            </a:pPr>
            <a:r>
              <a:t>2. Алгебра. 9 сынып. Авторы: Ә.Е.Әбілқасымова, И.Бекбоев, А.Абдиев, З.Жұмағұлова. "Мектеп" баспасы, 2019 ж. (okulyk.kz)</a:t>
            </a:r>
          </a:p>
        </p:txBody>
      </p:sp>
      <p:sp>
        <p:nvSpPr>
          <p:cNvPr id="3" name="Title 2"/>
          <p:cNvSpPr>
            <a:spLocks noGrp="1"/>
          </p:cNvSpPr>
          <p:nvPr>
            <p:ph type="title"/>
          </p:nvPr>
        </p:nvSpPr>
        <p:spPr/>
        <p:txBody>
          <a:bodyPr/>
          <a:lstStyle/>
          <a:p>
            <a:pPr>
              <a:defRPr b="1" sz="2800">
                <a:solidFill>
                  <a:srgbClr val="005495"/>
                </a:solidFill>
                <a:latin typeface="Arial"/>
              </a:defRPr>
            </a:pPr>
            <a:r>
              <a:t>7-слайд</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