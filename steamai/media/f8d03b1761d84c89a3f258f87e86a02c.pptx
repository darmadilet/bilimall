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жаратылыстану ғылымдарының байланысы: Бір өлшемді массивтерді сандар тізбегін талдауда қолдану (9-сынып алгебра курсымен байланысы)</a:t>
            </a:r>
          </a:p>
          <a:p>
            <a:pPr>
              <a:spcAft>
                <a:spcPts val="800"/>
              </a:spcAft>
              <a:defRPr sz="1800">
                <a:latin typeface="Arial"/>
              </a:defRPr>
            </a:pPr>
            <a:r>
              <a:t>Мақсаты: Информатика мен жаратылыстану пәндерінің өзара байланысын көрсету, бір өлшемді массивтерді сандар тізбегін талдау үшін қалай қолдануға болатынын түсіндіру.</a:t>
            </a:r>
          </a:p>
          <a:p>
            <a:pPr>
              <a:spcAft>
                <a:spcPts val="800"/>
              </a:spcAft>
              <a:defRPr sz="1800">
                <a:latin typeface="Arial"/>
              </a:defRPr>
            </a:pPr>
            <a:r>
              <a:t>Міндеттері:</a:t>
            </a:r>
          </a:p>
          <a:p>
            <a:pPr>
              <a:spcAft>
                <a:spcPts val="800"/>
              </a:spcAft>
              <a:defRPr sz="1800">
                <a:latin typeface="Arial"/>
              </a:defRPr>
            </a:pPr>
            <a:r>
              <a:t>*   Информатика мен жаратылыстану ғылымдарының әдістері мен ұғымдарының ортақтығын анықтау.</a:t>
            </a:r>
          </a:p>
          <a:p>
            <a:pPr>
              <a:spcAft>
                <a:spcPts val="800"/>
              </a:spcAft>
              <a:defRPr sz="1800">
                <a:latin typeface="Arial"/>
              </a:defRPr>
            </a:pPr>
            <a:r>
              <a:t>*   Бір өлшемді массив ұғымын және оның қолданылу аясын қарастыру.</a:t>
            </a:r>
          </a:p>
          <a:p>
            <a:pPr>
              <a:spcAft>
                <a:spcPts val="800"/>
              </a:spcAft>
              <a:defRPr sz="1800">
                <a:latin typeface="Arial"/>
              </a:defRPr>
            </a:pPr>
            <a:r>
              <a:t>*   9-сынып алгебра курсындағы сандар тізбегі ұғымын еске түсіру.</a:t>
            </a:r>
          </a:p>
          <a:p>
            <a:pPr>
              <a:spcAft>
                <a:spcPts val="800"/>
              </a:spcAft>
              <a:defRPr sz="1800">
                <a:latin typeface="Arial"/>
              </a:defRPr>
            </a:pPr>
            <a:r>
              <a:t>*   Бір өлшемді массивтерді сандар тізбегін талдау үшін қолдану мысалдарын көрсету.</a:t>
            </a:r>
          </a:p>
          <a:p>
            <a:pPr>
              <a:spcAft>
                <a:spcPts val="800"/>
              </a:spcAft>
              <a:defRPr sz="1800">
                <a:latin typeface="Arial"/>
              </a:defRPr>
            </a:pPr>
            <a:r>
              <a:t>*   Оқушылардың пәнаралық байланыстарды түсіну қабілетін дамыту.</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Информатика: Ақпаратты жинау, сақтау, өңдеу және тарату заңдылықтарын зерттейтін ғылым. Информатика есептеу техникасы мен ақпараттық технологияларды дамытумен тікелей байланысты.</a:t>
            </a:r>
          </a:p>
          <a:p>
            <a:pPr>
              <a:spcAft>
                <a:spcPts val="800"/>
              </a:spcAft>
              <a:defRPr sz="1800">
                <a:latin typeface="Arial"/>
              </a:defRPr>
            </a:pPr>
            <a:r>
              <a:t>Жаратылыстану ғылымдары: Табиғатты және ондағы құбылыстарды зерттейтін ғылымдар тобы. Бұған физика, химия, биология, география және т.б. жатады.</a:t>
            </a:r>
          </a:p>
          <a:p>
            <a:pPr>
              <a:spcAft>
                <a:spcPts val="800"/>
              </a:spcAft>
              <a:defRPr sz="1800">
                <a:latin typeface="Arial"/>
              </a:defRPr>
            </a:pPr>
            <a:r>
              <a:t>Алгебра: Математиканың сандар мен олардың қасиеттерін, сондай-ақ теңдеулер мен теңсіздіктерді зерттейтін бөлімі.</a:t>
            </a:r>
          </a:p>
          <a:p>
            <a:pPr>
              <a:spcAft>
                <a:spcPts val="800"/>
              </a:spcAft>
              <a:defRPr sz="1800">
                <a:latin typeface="Arial"/>
              </a:defRPr>
            </a:pPr>
            <a:r>
              <a:t>Сандар тізбегі: Белгілі бір заңдылықпен реттелген сандардың жиынтығы. Мысалы, арифметикалық прогрессия, геометриялық прогрессия және т.б.</a:t>
            </a:r>
          </a:p>
          <a:p>
            <a:pPr>
              <a:spcAft>
                <a:spcPts val="800"/>
              </a:spcAft>
              <a:defRPr sz="1800">
                <a:latin typeface="Arial"/>
              </a:defRPr>
            </a:pPr>
            <a:r>
              <a:t>Бір өлшемді массив (немесе тізім): Бір атпен біріктірілген және индекс арқылы анықталатын бір типті элементтердің реттелген жиынтығы.</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 Информатика және жаратылыстану</a:t>
            </a:r>
          </a:p>
          <a:p>
            <a:pPr>
              <a:spcAft>
                <a:spcPts val="800"/>
              </a:spcAft>
              <a:defRPr sz="1800">
                <a:latin typeface="Arial"/>
              </a:defRPr>
            </a:pPr>
            <a:r>
              <a:t>Информатика жаратылыстану ғылымдарында алынған деректерді өңдеу, талдау және модельдеу үшін кеңінен қолданылады. Мысалы:</a:t>
            </a:r>
          </a:p>
          <a:p>
            <a:pPr>
              <a:spcAft>
                <a:spcPts val="800"/>
              </a:spcAft>
              <a:defRPr sz="1800">
                <a:latin typeface="Arial"/>
              </a:defRPr>
            </a:pPr>
            <a:r>
              <a:t>*   Физикалық эксперименттер нәтижелерін өңдеу және графиктер тұрғызу.</a:t>
            </a:r>
          </a:p>
          <a:p>
            <a:pPr>
              <a:spcAft>
                <a:spcPts val="800"/>
              </a:spcAft>
              <a:defRPr sz="1800">
                <a:latin typeface="Arial"/>
              </a:defRPr>
            </a:pPr>
            <a:r>
              <a:t>*   Химиялық реакциялардың жылдамдығын есептеу және модельдеу.</a:t>
            </a:r>
          </a:p>
          <a:p>
            <a:pPr>
              <a:spcAft>
                <a:spcPts val="800"/>
              </a:spcAft>
              <a:defRPr sz="1800">
                <a:latin typeface="Arial"/>
              </a:defRPr>
            </a:pPr>
            <a:r>
              <a:t>*   Биологиялық деректерді талдау және популяциялық модельдер құру.</a:t>
            </a:r>
          </a:p>
          <a:p>
            <a:pPr>
              <a:spcAft>
                <a:spcPts val="800"/>
              </a:spcAft>
              <a:defRPr sz="1800">
                <a:latin typeface="Arial"/>
              </a:defRPr>
            </a:pPr>
            <a:r>
              <a:t>*   Географиялық ақпараттық жүйелер (ГАЖ) арқылы картографиялық деректерді өңдеу.</a:t>
            </a:r>
          </a:p>
          <a:p>
            <a:pPr>
              <a:spcAft>
                <a:spcPts val="800"/>
              </a:spcAft>
              <a:defRPr sz="1800">
                <a:latin typeface="Arial"/>
              </a:defRPr>
            </a:pPr>
            <a:r>
              <a:t>Бір өлшемді массивтер сандар тізбегін сақтау және өңдеу үшін өте қолайлы құрылым болып табылады.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Бір өлшемді массивті сандар тізбегін талдау үшін қолдану</a:t>
            </a:r>
          </a:p>
          <a:p>
            <a:pPr>
              <a:spcAft>
                <a:spcPts val="800"/>
              </a:spcAft>
              <a:defRPr sz="1800">
                <a:latin typeface="Arial"/>
              </a:defRPr>
            </a:pPr>
            <a:r>
              <a:t>Мәселе: Ауа температурасының тәуліктік өзгерісін өлшеу нәтижелері берілген. Осы деректерді пайдаланып, орташа температураны, ең жоғары және ең төмен температураны табу керек.</a:t>
            </a:r>
          </a:p>
          <a:p>
            <a:pPr>
              <a:spcAft>
                <a:spcPts val="800"/>
              </a:spcAft>
              <a:defRPr sz="1800">
                <a:latin typeface="Arial"/>
              </a:defRPr>
            </a:pPr>
            <a:r>
              <a:t>Шешімі:</a:t>
            </a:r>
          </a:p>
          <a:p>
            <a:pPr lvl="1">
              <a:spcAft>
                <a:spcPts val="800"/>
              </a:spcAft>
              <a:defRPr sz="1600">
                <a:latin typeface="Arial"/>
              </a:defRPr>
            </a:pPr>
            <a:r>
              <a:t>1.  Ауа температурасының өлшем нәтижелерін бір өлшемді массивке сақтаймыз.</a:t>
            </a:r>
          </a:p>
          <a:p>
            <a:pPr lvl="1">
              <a:spcAft>
                <a:spcPts val="800"/>
              </a:spcAft>
              <a:defRPr sz="1600">
                <a:latin typeface="Arial"/>
              </a:defRPr>
            </a:pPr>
            <a:r>
              <a:t>2.  Массивтің барлық элементтерін қосып, элементтердің санына бөлу арқылы орташа температураны есептейміз.</a:t>
            </a:r>
          </a:p>
          <a:p>
            <a:pPr lvl="1">
              <a:spcAft>
                <a:spcPts val="800"/>
              </a:spcAft>
              <a:defRPr sz="1600">
                <a:latin typeface="Arial"/>
              </a:defRPr>
            </a:pPr>
            <a:r>
              <a:t>3.  Массивтің ең үлкен және ең кіші элементтерін анықтаймыз.</a:t>
            </a:r>
          </a:p>
          <a:p>
            <a:pPr>
              <a:spcAft>
                <a:spcPts val="800"/>
              </a:spcAft>
              <a:defRPr sz="1800">
                <a:latin typeface="Arial"/>
              </a:defRPr>
            </a:pPr>
            <a:r>
              <a:t>4.  Нәтижелерді көрсетеміз.</a:t>
            </a:r>
          </a:p>
          <a:p>
            <a:pPr>
              <a:spcAft>
                <a:spcPts val="800"/>
              </a:spcAft>
              <a:defRPr sz="1800">
                <a:latin typeface="Arial"/>
              </a:defRPr>
            </a:pPr>
            <a:r>
              <a:t>Бұл есепті Python тілінде былайша шешуге болады:</a:t>
            </a:r>
          </a:p>
          <a:p>
            <a:pPr>
              <a:spcAft>
                <a:spcPts val="800"/>
              </a:spcAft>
              <a:defRPr sz="1800">
                <a:latin typeface="Arial"/>
              </a:defRPr>
            </a:pPr>
            <a:r>
              <a:t>```python</a:t>
            </a:r>
          </a:p>
          <a:p>
            <a:pPr>
              <a:spcAft>
                <a:spcPts val="800"/>
              </a:spcAft>
              <a:defRPr sz="1800">
                <a:latin typeface="Arial"/>
              </a:defRPr>
            </a:pPr>
            <a:r>
              <a:t>temperatures = [15, 17, 20, 22, 21, 19, 16]  # Ауа температурасының өлшем нәтижелері</a:t>
            </a:r>
          </a:p>
          <a:p>
            <a:pPr>
              <a:spcAft>
                <a:spcPts val="800"/>
              </a:spcAft>
              <a:defRPr sz="1800">
                <a:latin typeface="Arial"/>
              </a:defRPr>
            </a:pPr>
            <a:r>
              <a:t>average_temperature = sum(temperatures) / len(temperatures) # Орташа температураны есептеу</a:t>
            </a:r>
          </a:p>
          <a:p>
            <a:pPr>
              <a:spcAft>
                <a:spcPts val="800"/>
              </a:spcAft>
              <a:defRPr sz="1800">
                <a:latin typeface="Arial"/>
              </a:defRPr>
            </a:pPr>
            <a:r>
              <a:t>max_temperature = max(temperatures) # Ең жоғары температураны табу</a:t>
            </a:r>
          </a:p>
          <a:p>
            <a:pPr>
              <a:spcAft>
                <a:spcPts val="800"/>
              </a:spcAft>
              <a:defRPr sz="1800">
                <a:latin typeface="Arial"/>
              </a:defRPr>
            </a:pPr>
            <a:r>
              <a:t>min_temperature = min(temperatures) # Ең төмен температураны табу</a:t>
            </a:r>
          </a:p>
          <a:p>
            <a:pPr>
              <a:spcAft>
                <a:spcPts val="800"/>
              </a:spcAft>
              <a:defRPr sz="1800">
                <a:latin typeface="Arial"/>
              </a:defRPr>
            </a:pPr>
            <a:r>
              <a:t>print("Орташа температура:", average_temperature)</a:t>
            </a:r>
          </a:p>
          <a:p>
            <a:pPr>
              <a:spcAft>
                <a:spcPts val="800"/>
              </a:spcAft>
              <a:defRPr sz="1800">
                <a:latin typeface="Arial"/>
              </a:defRPr>
            </a:pPr>
            <a:r>
              <a:t>print("Ең жоғары температура:", max_temperature)</a:t>
            </a:r>
          </a:p>
          <a:p>
            <a:pPr>
              <a:spcAft>
                <a:spcPts val="800"/>
              </a:spcAft>
              <a:defRPr sz="1800">
                <a:latin typeface="Arial"/>
              </a:defRPr>
            </a:pPr>
            <a:r>
              <a:t>print("Ең төмен температура:", min_temperature)</a:t>
            </a:r>
          </a:p>
          <a:p>
            <a:pPr>
              <a:spcAft>
                <a:spcPts val="800"/>
              </a:spcAft>
              <a:defRPr sz="1800">
                <a:latin typeface="Arial"/>
              </a:defRPr>
            </a:pPr>
            <a:r>
              <a:t>```</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және жаратылыстану ғылымдары өзара тығыз байланысты. Информатика жаратылыстану ғылымдарындағы деректерді өңдеу, талдау және модельдеу үшін қуатты құралдар ұсынады. Бір өлшемді массивтер сандар тізбегін сақтау және өңдеу үшін өте қолайлы құрылым болып табылады және оларды жаратылыстану ғылымдарында кеңінен қолдануға болады. Бұл пәндердің байланысын түсіну оқушылардың ғылыми көзқарасын қалыптастыруға және олардың зерттеу дағдыларын дамытуға көмектеседі.</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Сұрақтар</a:t>
            </a:r>
          </a:p>
          <a:p>
            <a:pPr>
              <a:spcAft>
                <a:spcPts val="800"/>
              </a:spcAft>
              <a:defRPr sz="1800">
                <a:latin typeface="Arial"/>
              </a:defRPr>
            </a:pPr>
            <a:r>
              <a:t>*   Сіздер жаратылыстану ғылымдарында деректерді өңдеу үшін информатиканың қандай басқа қолданыстарын білесіздер?</a:t>
            </a:r>
          </a:p>
          <a:p>
            <a:pPr>
              <a:spcAft>
                <a:spcPts val="800"/>
              </a:spcAft>
              <a:defRPr sz="1800">
                <a:latin typeface="Arial"/>
              </a:defRPr>
            </a:pPr>
            <a:r>
              <a:t>*   Бір өлшемді массивтерден басқа, деректерді сақтау үшін қандай құрылымдарды қолдануға болады?</a:t>
            </a:r>
          </a:p>
          <a:p>
            <a:pPr>
              <a:spcAft>
                <a:spcPts val="800"/>
              </a:spcAft>
              <a:defRPr sz="1800">
                <a:latin typeface="Arial"/>
              </a:defRPr>
            </a:pPr>
            <a:r>
              <a:t>*   Осы презентацияда келтірілген мысалды басқа жаратылыстану пәніне қалай қолдануға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 сынып. Авторы: Бельгибаев Ө., Бельгибаева Г. "Арман-ПВ" баспасы, 2019 жыл.</a:t>
            </a:r>
          </a:p>
          <a:p>
            <a:pPr lvl="1">
              <a:spcAft>
                <a:spcPts val="800"/>
              </a:spcAft>
              <a:defRPr sz="1600">
                <a:latin typeface="Arial"/>
              </a:defRPr>
            </a:pPr>
            <a:r>
              <a:t>2.  Алгебра. 9 сынып. Авторы: Ә.Н.Шыныбеков, Д.Ә.Шыныбеков, Ж.Қ.Жұмабаев. "Атамұра" баспасы, 2019 жыл.</a:t>
            </a:r>
          </a:p>
          <a:p>
            <a:pPr lvl="1">
              <a:spcAft>
                <a:spcPts val="800"/>
              </a:spcAft>
              <a:defRPr sz="1600">
                <a:latin typeface="Arial"/>
              </a:defRPr>
            </a:pPr>
            <a:r>
              <a:t>3.  okulyk.kz сайтындағы оқулықтар.</a:t>
            </a:r>
          </a:p>
          <a:p>
            <a:pPr>
              <a:spcAft>
                <a:spcPts val="800"/>
              </a:spcAft>
              <a:defRPr sz="1800">
                <a:latin typeface="Arial"/>
              </a:defRPr>
            </a:pPr>
            <a:r>
              <a:t>Ескертпе: Бұл презентация мәтіні тек okulyk.kz сайтындағы ресми оқулықтарға сүйене отырып жасалды және оқушылардың түсінігін жеңілдету үшін қарапайым тілмен жазылды. Мәліметтерді тереңірек түсіну үшін қосымша ақпарат көздерін пайдалануға болады.</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