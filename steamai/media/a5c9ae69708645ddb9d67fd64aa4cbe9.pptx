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жаратылыстану пәндерінің байланысы: Бір өлшемді массивтерді алгебралық есептерді шешуде қолдану</a:t>
            </a:r>
          </a:p>
          <a:p>
            <a:pPr>
              <a:spcAft>
                <a:spcPts val="800"/>
              </a:spcAft>
              <a:defRPr sz="1800">
                <a:latin typeface="Arial"/>
              </a:defRPr>
            </a:pPr>
            <a:r>
              <a:t>Мақсаты: Информатика мен жаратылыстану пәндерінің өзара байланысын көрсету, бір өлшемді массивтерді алгебралық есептерді шешуде қолдану мүмкіндіктерін ашу.</a:t>
            </a:r>
          </a:p>
          <a:p>
            <a:pPr>
              <a:spcAft>
                <a:spcPts val="800"/>
              </a:spcAft>
              <a:defRPr sz="1800">
                <a:latin typeface="Arial"/>
              </a:defRPr>
            </a:pPr>
            <a:r>
              <a:t>Міндеттері:</a:t>
            </a:r>
          </a:p>
          <a:p>
            <a:pPr>
              <a:spcAft>
                <a:spcPts val="800"/>
              </a:spcAft>
              <a:defRPr sz="1800">
                <a:latin typeface="Arial"/>
              </a:defRPr>
            </a:pPr>
            <a:r>
              <a:t>*   Бір өлшемді массив ұғымын түсіндіру.</a:t>
            </a:r>
          </a:p>
          <a:p>
            <a:pPr>
              <a:spcAft>
                <a:spcPts val="800"/>
              </a:spcAft>
              <a:defRPr sz="1800">
                <a:latin typeface="Arial"/>
              </a:defRPr>
            </a:pPr>
            <a:r>
              <a:t>*   Алгебра пәніндегі сандар тізбегі ұғымын анықтау.</a:t>
            </a:r>
          </a:p>
          <a:p>
            <a:pPr>
              <a:spcAft>
                <a:spcPts val="800"/>
              </a:spcAft>
              <a:defRPr sz="1800">
                <a:latin typeface="Arial"/>
              </a:defRPr>
            </a:pPr>
            <a:r>
              <a:t>*   Екі пәннің байланысын ашып көрсету.</a:t>
            </a:r>
          </a:p>
          <a:p>
            <a:pPr>
              <a:spcAft>
                <a:spcPts val="800"/>
              </a:spcAft>
              <a:defRPr sz="1800">
                <a:latin typeface="Arial"/>
              </a:defRPr>
            </a:pPr>
            <a:r>
              <a:t>*   Бір өлшемді массивтерді қолдану арқылы алгебралық есептерді шешудің практикалық мысалдарын келтіру.</a:t>
            </a:r>
          </a:p>
          <a:p>
            <a:pPr>
              <a:spcAft>
                <a:spcPts val="800"/>
              </a:spcAft>
              <a:defRPr sz="1800">
                <a:latin typeface="Arial"/>
              </a:defRPr>
            </a:pPr>
            <a:r>
              <a:t>*   Оқушылардың пәнаралық байланыс туралы түсінігін қалыптастыру.</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(массив): Бір атаумен біріктірілген, бір типтегі элементтердің реттелген тізбегі. Әрбір элементтің өз индексі (нөмірі) болады.</a:t>
            </a:r>
          </a:p>
          <a:p>
            <a:pPr>
              <a:spcAft>
                <a:spcPts val="800"/>
              </a:spcAft>
              <a:defRPr sz="1800">
                <a:latin typeface="Arial"/>
              </a:defRPr>
            </a:pPr>
            <a:r>
              <a:t>*   Индекс: Массивтегі элементтің орнын көрсететін бүтін сан. Индекстер әдетте 0-ден басталады.</a:t>
            </a:r>
          </a:p>
          <a:p>
            <a:pPr>
              <a:spcAft>
                <a:spcPts val="800"/>
              </a:spcAft>
              <a:defRPr sz="1800">
                <a:latin typeface="Arial"/>
              </a:defRPr>
            </a:pPr>
            <a:r>
              <a:t>*   Сандар тізбегі: Алгебрада белгілі бір заңдылықпен орналасқан сандардың жиынтығы. Мысалы, арифметикалық прогрессия, геометриялық прогрессия.</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 мен алгебраның байланысы сандарды өңдеу, есептеу алгоритмдерін құру арқылы жүзеге асады. Алгебралық есептерді шешу үшін информатиканың құралдары – программалау тілдері мен алгоритмдерін қолдану тиімді. Бір өлшемді массивтер сандар тізбегін сақтау және өңдеу үшін қолайлы құрылым болып табылады. Массивтердің көмегімен сандар тізбегінің элементтерін іздеу, сұрыптау, қосындысын табу, орташа мәнін есептеу сияқты амалдарды оңай орындауға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прогрессияның алғашқы n мүшесінің қосындысын табу.</a:t>
            </a:r>
          </a:p>
          <a:p>
            <a:pPr>
              <a:spcAft>
                <a:spcPts val="800"/>
              </a:spcAft>
              <a:defRPr sz="1800">
                <a:latin typeface="Arial"/>
              </a:defRPr>
            </a:pPr>
            <a:r>
              <a:t>Алгебралық шешімі: S = (a1 + an) * n / 2, мұндағы a1 – бірінші мүшесі, an – n-ші мүшесі, n – мүшелер саны.</a:t>
            </a:r>
          </a:p>
          <a:p>
            <a:pPr>
              <a:spcAft>
                <a:spcPts val="800"/>
              </a:spcAft>
              <a:defRPr sz="1800">
                <a:latin typeface="Arial"/>
              </a:defRPr>
            </a:pPr>
            <a:r>
              <a:t>Информатикалық шешімі:</a:t>
            </a:r>
          </a:p>
          <a:p>
            <a:pPr lvl="1">
              <a:spcAft>
                <a:spcPts val="800"/>
              </a:spcAft>
              <a:defRPr sz="1600">
                <a:latin typeface="Arial"/>
              </a:defRPr>
            </a:pPr>
            <a:r>
              <a:t>1.  Арифметикалық прогрессияның алғашқы n мүшесін массивке енгізу.</a:t>
            </a:r>
          </a:p>
          <a:p>
            <a:pPr lvl="1">
              <a:spcAft>
                <a:spcPts val="800"/>
              </a:spcAft>
              <a:defRPr sz="1600">
                <a:latin typeface="Arial"/>
              </a:defRPr>
            </a:pPr>
            <a:r>
              <a:t>2.  Массив элементтерін қосу арқылы қосындыны табу.</a:t>
            </a:r>
          </a:p>
          <a:p>
            <a:pPr>
              <a:spcAft>
                <a:spcPts val="800"/>
              </a:spcAft>
              <a:defRPr sz="1800">
                <a:latin typeface="Arial"/>
              </a:defRPr>
            </a:pPr>
            <a:r>
              <a:t>(Pascal тіліндегі код үзіндісі):</a:t>
            </a:r>
          </a:p>
          <a:p>
            <a:pPr>
              <a:spcAft>
                <a:spcPts val="800"/>
              </a:spcAft>
              <a:defRPr sz="1800">
                <a:latin typeface="Arial"/>
              </a:defRPr>
            </a:pPr>
            <a:r>
              <a:t>```pascal</a:t>
            </a:r>
          </a:p>
          <a:p>
            <a:pPr>
              <a:spcAft>
                <a:spcPts val="800"/>
              </a:spcAft>
              <a:defRPr sz="1800">
                <a:latin typeface="Arial"/>
              </a:defRPr>
            </a:pPr>
            <a:r>
              <a:t>program Arifmetika;</a:t>
            </a:r>
          </a:p>
          <a:p>
            <a:pPr>
              <a:spcAft>
                <a:spcPts val="800"/>
              </a:spcAft>
              <a:defRPr sz="1800">
                <a:latin typeface="Arial"/>
              </a:defRPr>
            </a:pPr>
            <a:r>
              <a:t>var</a:t>
            </a:r>
          </a:p>
          <a:p>
            <a:pPr>
              <a:spcAft>
                <a:spcPts val="800"/>
              </a:spcAft>
              <a:defRPr sz="1800">
                <a:latin typeface="Arial"/>
              </a:defRPr>
            </a:pPr>
            <a:r>
              <a:t>a: array[1..100] of integer; {массив}</a:t>
            </a:r>
          </a:p>
          <a:p>
            <a:pPr>
              <a:spcAft>
                <a:spcPts val="800"/>
              </a:spcAft>
              <a:defRPr sz="1800">
                <a:latin typeface="Arial"/>
              </a:defRPr>
            </a:pPr>
            <a:r>
              <a:t>n, i, sum: integer;</a:t>
            </a:r>
          </a:p>
          <a:p>
            <a:pPr>
              <a:spcAft>
                <a:spcPts val="800"/>
              </a:spcAft>
              <a:defRPr sz="1800">
                <a:latin typeface="Arial"/>
              </a:defRPr>
            </a:pPr>
            <a:r>
              <a:t>d, a1: integer;</a:t>
            </a:r>
          </a:p>
          <a:p>
            <a:pPr>
              <a:spcAft>
                <a:spcPts val="800"/>
              </a:spcAft>
              <a:defRPr sz="1800">
                <a:latin typeface="Arial"/>
              </a:defRPr>
            </a:pPr>
            <a:r>
              <a:t>begin</a:t>
            </a:r>
          </a:p>
          <a:p>
            <a:pPr>
              <a:spcAft>
                <a:spcPts val="800"/>
              </a:spcAft>
              <a:defRPr sz="1800">
                <a:latin typeface="Arial"/>
              </a:defRPr>
            </a:pPr>
            <a:r>
              <a:t>write('Прогрессия мүшелерінің санын енгізіңіз: ');</a:t>
            </a:r>
          </a:p>
          <a:p>
            <a:pPr>
              <a:spcAft>
                <a:spcPts val="800"/>
              </a:spcAft>
              <a:defRPr sz="1800">
                <a:latin typeface="Arial"/>
              </a:defRPr>
            </a:pPr>
            <a:r>
              <a:t>readln(n);</a:t>
            </a:r>
          </a:p>
          <a:p>
            <a:pPr>
              <a:spcAft>
                <a:spcPts val="800"/>
              </a:spcAft>
              <a:defRPr sz="1800">
                <a:latin typeface="Arial"/>
              </a:defRPr>
            </a:pPr>
            <a:r>
              <a:t>write('Бірінші мүшені енгізіңіз: ');</a:t>
            </a:r>
          </a:p>
          <a:p>
            <a:pPr>
              <a:spcAft>
                <a:spcPts val="800"/>
              </a:spcAft>
              <a:defRPr sz="1800">
                <a:latin typeface="Arial"/>
              </a:defRPr>
            </a:pPr>
            <a:r>
              <a:t>readln(a1);</a:t>
            </a:r>
          </a:p>
          <a:p>
            <a:pPr>
              <a:spcAft>
                <a:spcPts val="800"/>
              </a:spcAft>
              <a:defRPr sz="1800">
                <a:latin typeface="Arial"/>
              </a:defRPr>
            </a:pPr>
            <a:r>
              <a:t>write('Айырманы енгізіңіз: ');</a:t>
            </a:r>
          </a:p>
          <a:p>
            <a:pPr>
              <a:spcAft>
                <a:spcPts val="800"/>
              </a:spcAft>
              <a:defRPr sz="1800">
                <a:latin typeface="Arial"/>
              </a:defRPr>
            </a:pPr>
            <a:r>
              <a:t>readln(d);</a:t>
            </a:r>
          </a:p>
          <a:p>
            <a:pPr>
              <a:spcAft>
                <a:spcPts val="800"/>
              </a:spcAft>
              <a:defRPr sz="1800">
                <a:latin typeface="Arial"/>
              </a:defRPr>
            </a:pPr>
            <a:r>
              <a:t>for i := 1 to n do</a:t>
            </a:r>
          </a:p>
          <a:p>
            <a:pPr>
              <a:spcAft>
                <a:spcPts val="800"/>
              </a:spcAft>
              <a:defRPr sz="1800">
                <a:latin typeface="Arial"/>
              </a:defRPr>
            </a:pPr>
            <a:r>
              <a:t>begin</a:t>
            </a:r>
          </a:p>
          <a:p>
            <a:pPr>
              <a:spcAft>
                <a:spcPts val="800"/>
              </a:spcAft>
              <a:defRPr sz="1800">
                <a:latin typeface="Arial"/>
              </a:defRPr>
            </a:pPr>
            <a:r>
              <a:t>a[i] := a1 + (i - 1) * d; {массивті толтыру}</a:t>
            </a:r>
          </a:p>
          <a:p>
            <a:pPr>
              <a:spcAft>
                <a:spcPts val="800"/>
              </a:spcAft>
              <a:defRPr sz="1800">
                <a:latin typeface="Arial"/>
              </a:defRPr>
            </a:pPr>
            <a:r>
              <a:t>end;</a:t>
            </a:r>
          </a:p>
          <a:p>
            <a:pPr>
              <a:spcAft>
                <a:spcPts val="800"/>
              </a:spcAft>
              <a:defRPr sz="1800">
                <a:latin typeface="Arial"/>
              </a:defRPr>
            </a:pPr>
            <a:r>
              <a:t>sum := 0;</a:t>
            </a:r>
          </a:p>
          <a:p>
            <a:pPr>
              <a:spcAft>
                <a:spcPts val="800"/>
              </a:spcAft>
              <a:defRPr sz="1800">
                <a:latin typeface="Arial"/>
              </a:defRPr>
            </a:pPr>
            <a:r>
              <a:t>for i := 1 to n do</a:t>
            </a:r>
          </a:p>
          <a:p>
            <a:pPr>
              <a:spcAft>
                <a:spcPts val="800"/>
              </a:spcAft>
              <a:defRPr sz="1800">
                <a:latin typeface="Arial"/>
              </a:defRPr>
            </a:pPr>
            <a:r>
              <a:t>begin</a:t>
            </a:r>
          </a:p>
          <a:p>
            <a:pPr>
              <a:spcAft>
                <a:spcPts val="800"/>
              </a:spcAft>
              <a:defRPr sz="1800">
                <a:latin typeface="Arial"/>
              </a:defRPr>
            </a:pPr>
            <a:r>
              <a:t>sum := sum + a[i]; {қосындыны есептеу}</a:t>
            </a:r>
          </a:p>
          <a:p>
            <a:pPr>
              <a:spcAft>
                <a:spcPts val="800"/>
              </a:spcAft>
              <a:defRPr sz="1800">
                <a:latin typeface="Arial"/>
              </a:defRPr>
            </a:pPr>
            <a:r>
              <a:t>end;</a:t>
            </a:r>
          </a:p>
          <a:p>
            <a:pPr>
              <a:spcAft>
                <a:spcPts val="800"/>
              </a:spcAft>
              <a:defRPr sz="1800">
                <a:latin typeface="Arial"/>
              </a:defRPr>
            </a:pPr>
            <a:r>
              <a:t>writeln('Қосынды: ', sum);</a:t>
            </a:r>
          </a:p>
          <a:p>
            <a:pPr>
              <a:spcAft>
                <a:spcPts val="800"/>
              </a:spcAft>
              <a:defRPr sz="1800">
                <a:latin typeface="Arial"/>
              </a:defRPr>
            </a:pPr>
            <a:r>
              <a:t>readln;</a:t>
            </a:r>
          </a:p>
          <a:p>
            <a:pPr>
              <a:spcAft>
                <a:spcPts val="800"/>
              </a:spcAft>
              <a:defRPr sz="1800">
                <a:latin typeface="Arial"/>
              </a:defRPr>
            </a:pPr>
            <a:r>
              <a:t>end.</a:t>
            </a:r>
          </a:p>
          <a:p>
            <a:pPr>
              <a:spcAft>
                <a:spcPts val="800"/>
              </a:spcAft>
              <a:defRPr sz="1800">
                <a:latin typeface="Arial"/>
              </a:defRPr>
            </a:pPr>
            <a:r>
              <a:t>```</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жаратылыстану (алгебра) пәндерінің байланысы оқушылардың логикалық ойлау қабілетін дамытуға, проблемаларды шешу дағдыларын қалыптастыруға көмектеседі. Бір өлшемді массивтер алгебралық есептерді шешуде тиімді құрал ретінде қолданыла алады. Бұл оқушылардың пәндерді тереңірек түсінуіне және практикалық дағдыларын жетілдіруіне ықпал етеді.</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a:spcAft>
                <a:spcPts val="800"/>
              </a:spcAft>
              <a:defRPr sz="1800">
                <a:latin typeface="Arial"/>
              </a:defRPr>
            </a:pPr>
            <a:r>
              <a:t>*   Информатика, 9 сынып, Б.Қ.Сағымбаева, Н.Е.Ермеков, Г.Б.Көпешова, "Арман-ПВ" баспасы, 2019 ж. (okulyk.kz)</a:t>
            </a:r>
          </a:p>
          <a:p>
            <a:pPr>
              <a:spcAft>
                <a:spcPts val="800"/>
              </a:spcAft>
              <a:defRPr sz="1800">
                <a:latin typeface="Arial"/>
              </a:defRPr>
            </a:pPr>
            <a:r>
              <a:t>*   Алгебра, 9 сынып, Ә.Н.Шыныбеков, Д.Ә.Шыныбеков, "Атамұра" баспасы, 2019 ж. (okulyk.kz)</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Сұрақтар?</a:t>
            </a:r>
          </a:p>
          <a:p>
            <a:pPr>
              <a:spcAft>
                <a:spcPts val="800"/>
              </a:spcAft>
              <a:defRPr sz="1800">
                <a:latin typeface="Arial"/>
              </a:defRPr>
            </a:pPr>
            <a:r>
              <a:t>Назарларыңызға рақмет!</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