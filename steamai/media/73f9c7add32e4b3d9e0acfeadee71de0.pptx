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Армысыздар, құрметті оқушылар мен ұстаздар! Бүгінгі презентациямыздың тақырыбы – информатика және жаратылыстану ғылымдарының, нақтырақ айтқанда, алгебраның арасындағы тығыз байланысты ашу. Біз бүгін бір өлшемді массивтердің алгебралық есептерді шешудегі маңыздылығын және олардың сандар тізбегімен қалай байланысатынын қарастырамыз. Мақсатымыз – оқушылардың пәнаралық байланысты терең түсінуіне және білімдерін практикада қолдана білуіне ықпал ету.</a:t>
            </a:r>
          </a:p>
        </p:txBody>
      </p:sp>
      <p:sp>
        <p:nvSpPr>
          <p:cNvPr id="3" name="Title 2"/>
          <p:cNvSpPr>
            <a:spLocks noGrp="1"/>
          </p:cNvSpPr>
          <p:nvPr>
            <p:ph type="title"/>
          </p:nvPr>
        </p:nvSpPr>
        <p:spPr/>
        <p:txBody>
          <a:bodyPr/>
          <a:lstStyle/>
          <a:p>
            <a:pPr>
              <a:defRPr b="1" sz="2800">
                <a:solidFill>
                  <a:srgbClr val="005495"/>
                </a:solidFill>
                <a:latin typeface="Arial"/>
              </a:defRPr>
            </a:pPr>
            <a:r>
              <a:t>1-слайд. Кіріспе</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Информатикада бір өлшемді массив – бұл бірдей типтегі элементтердің (мысалы, сандар) тізбектелген жиынтығы. Әрбір элементтің өз индексі болады, ол арқылы элементке қол жеткізуге болады. Массивтер деректерді сақтау және өңдеу үшін кеңінен қолданылады.</a:t>
            </a:r>
          </a:p>
          <a:p>
            <a:pPr>
              <a:spcAft>
                <a:spcPts val="800"/>
              </a:spcAft>
              <a:defRPr sz="1800">
                <a:latin typeface="Arial"/>
              </a:defRPr>
            </a:pPr>
            <a:r>
              <a:t>Алгебрада сандар тізбегі – белгілі бір заңдылықпен орналасқан сандардың реті. Мысалы, арифметикалық прогрессия немесе геометриялық прогрессия.</a:t>
            </a:r>
          </a:p>
        </p:txBody>
      </p:sp>
      <p:sp>
        <p:nvSpPr>
          <p:cNvPr id="3" name="Title 2"/>
          <p:cNvSpPr>
            <a:spLocks noGrp="1"/>
          </p:cNvSpPr>
          <p:nvPr>
            <p:ph type="title"/>
          </p:nvPr>
        </p:nvSpPr>
        <p:spPr/>
        <p:txBody>
          <a:bodyPr/>
          <a:lstStyle/>
          <a:p>
            <a:pPr>
              <a:defRPr b="1" sz="2800">
                <a:solidFill>
                  <a:srgbClr val="005495"/>
                </a:solidFill>
                <a:latin typeface="Arial"/>
              </a:defRPr>
            </a:pPr>
            <a:r>
              <a:t>2-слайд. Негізгі ұғымдар: Бір өлшемді массив</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Енді осы екі ұғымның арасындағы байланысты қарастырайық. Бір өлшемді массивті алгебралық сандар тізбегін сақтау және өңдеу үшін пайдалануға болады. Массивтің әрбір элементі сандар тізбегінің мүшесі болып табылады. Осылайша, массивтер алгебралық есептерді шешуде тиімді құрал бола алады. Мысалы, арифметикалық прогрессияның алғашқы n мүшесінің қосындысын есептеу үшін массивті пайдалануға болады.</a:t>
            </a:r>
          </a:p>
        </p:txBody>
      </p:sp>
      <p:sp>
        <p:nvSpPr>
          <p:cNvPr id="3" name="Title 2"/>
          <p:cNvSpPr>
            <a:spLocks noGrp="1"/>
          </p:cNvSpPr>
          <p:nvPr>
            <p:ph type="title"/>
          </p:nvPr>
        </p:nvSpPr>
        <p:spPr/>
        <p:txBody>
          <a:bodyPr/>
          <a:lstStyle/>
          <a:p>
            <a:pPr>
              <a:defRPr b="1" sz="2800">
                <a:solidFill>
                  <a:srgbClr val="005495"/>
                </a:solidFill>
                <a:latin typeface="Arial"/>
              </a:defRPr>
            </a:pPr>
            <a:r>
              <a:t>3-слайд. Пәндік байланыс: Массив және сандар тізбегі</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Арифметикалық прогрессияның бірінші мүшесі 2, айырмасы 3 болсын. Алғашқы 5 мүшенің қосындысын есептейік.</a:t>
            </a:r>
          </a:p>
          <a:p>
            <a:pPr lvl="1">
              <a:spcAft>
                <a:spcPts val="800"/>
              </a:spcAft>
              <a:defRPr sz="1600">
                <a:latin typeface="Arial"/>
              </a:defRPr>
            </a:pPr>
            <a:r>
              <a:t>1.  Массив құрамыз: [2, 5, 8, 11, 14]</a:t>
            </a:r>
          </a:p>
          <a:p>
            <a:pPr lvl="1">
              <a:spcAft>
                <a:spcPts val="800"/>
              </a:spcAft>
              <a:defRPr sz="1600">
                <a:latin typeface="Arial"/>
              </a:defRPr>
            </a:pPr>
            <a:r>
              <a:t>2.  Массив элементтерін қосамыз: 2 + 5 + 8 + 11 + 14 = 40</a:t>
            </a:r>
          </a:p>
          <a:p>
            <a:pPr>
              <a:spcAft>
                <a:spcPts val="800"/>
              </a:spcAft>
              <a:defRPr sz="1800">
                <a:latin typeface="Arial"/>
              </a:defRPr>
            </a:pPr>
            <a:r>
              <a:t>Осылайша, массивтің көмегімен есептеу процесін автоматтандыруға болады.</a:t>
            </a:r>
          </a:p>
        </p:txBody>
      </p:sp>
      <p:sp>
        <p:nvSpPr>
          <p:cNvPr id="3" name="Title 2"/>
          <p:cNvSpPr>
            <a:spLocks noGrp="1"/>
          </p:cNvSpPr>
          <p:nvPr>
            <p:ph type="title"/>
          </p:nvPr>
        </p:nvSpPr>
        <p:spPr/>
        <p:txBody>
          <a:bodyPr/>
          <a:lstStyle/>
          <a:p>
            <a:pPr>
              <a:defRPr b="1" sz="2800">
                <a:solidFill>
                  <a:srgbClr val="005495"/>
                </a:solidFill>
                <a:latin typeface="Arial"/>
              </a:defRPr>
            </a:pPr>
            <a:r>
              <a:t>4-слайд. Мысал: Арифметикалық прогрессия</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```python</a:t>
            </a:r>
          </a:p>
          <a:p>
            <a:pPr>
              <a:spcAft>
                <a:spcPts val="800"/>
              </a:spcAft>
              <a:defRPr sz="1800">
                <a:latin typeface="Arial"/>
              </a:defRPr>
            </a:pPr>
            <a:r>
              <a:t>a = [2, 5, 8, 11, 14]</a:t>
            </a:r>
          </a:p>
          <a:p>
            <a:pPr>
              <a:spcAft>
                <a:spcPts val="800"/>
              </a:spcAft>
              <a:defRPr sz="1800">
                <a:latin typeface="Arial"/>
              </a:defRPr>
            </a:pPr>
            <a:r>
              <a:t>sum = 0</a:t>
            </a:r>
          </a:p>
          <a:p>
            <a:pPr>
              <a:spcAft>
                <a:spcPts val="800"/>
              </a:spcAft>
              <a:defRPr sz="1800">
                <a:latin typeface="Arial"/>
              </a:defRPr>
            </a:pPr>
            <a:r>
              <a:t>for i in a:</a:t>
            </a:r>
          </a:p>
          <a:p>
            <a:pPr>
              <a:spcAft>
                <a:spcPts val="800"/>
              </a:spcAft>
              <a:defRPr sz="1800">
                <a:latin typeface="Arial"/>
              </a:defRPr>
            </a:pPr>
            <a:r>
              <a:t>sum += i</a:t>
            </a:r>
          </a:p>
          <a:p>
            <a:pPr>
              <a:spcAft>
                <a:spcPts val="800"/>
              </a:spcAft>
              <a:defRPr sz="1800">
                <a:latin typeface="Arial"/>
              </a:defRPr>
            </a:pPr>
            <a:r>
              <a:t>print(sum) # Нәтижесі: 40</a:t>
            </a:r>
          </a:p>
          <a:p>
            <a:pPr>
              <a:spcAft>
                <a:spcPts val="800"/>
              </a:spcAft>
              <a:defRPr sz="1800">
                <a:latin typeface="Arial"/>
              </a:defRPr>
            </a:pPr>
            <a:r>
              <a:t>```</a:t>
            </a:r>
          </a:p>
          <a:p>
            <a:pPr>
              <a:spcAft>
                <a:spcPts val="800"/>
              </a:spcAft>
              <a:defRPr sz="1800">
                <a:latin typeface="Arial"/>
              </a:defRPr>
            </a:pPr>
            <a:r>
              <a:t>Бұл Python тіліндегі қарапайым код, массив элементтерін қосып, қосындыны шығарады.</a:t>
            </a:r>
          </a:p>
        </p:txBody>
      </p:sp>
      <p:sp>
        <p:nvSpPr>
          <p:cNvPr id="3" name="Title 2"/>
          <p:cNvSpPr>
            <a:spLocks noGrp="1"/>
          </p:cNvSpPr>
          <p:nvPr>
            <p:ph type="title"/>
          </p:nvPr>
        </p:nvSpPr>
        <p:spPr/>
        <p:txBody>
          <a:bodyPr/>
          <a:lstStyle/>
          <a:p>
            <a:pPr>
              <a:defRPr b="1" sz="2800">
                <a:solidFill>
                  <a:srgbClr val="005495"/>
                </a:solidFill>
                <a:latin typeface="Arial"/>
              </a:defRPr>
            </a:pPr>
            <a:r>
              <a:t>5-слайд. Информатикалық тұрғыдан шешілуі</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Бүгінгі презентациямызда информатика мен алгебраның арасындағы байланысты көрдік. Бір өлшемді массивтер алгебралық есептерді шешуде, әсіресе сандар тізбегімен жұмыс істеуде, тиімді құрал бола алады. Бұл пәнаралық байланыс оқушылардың білімдерін кеңейтіп, практикалық дағдыларын дамытуға мүмкіндік береді.</a:t>
            </a:r>
          </a:p>
        </p:txBody>
      </p:sp>
      <p:sp>
        <p:nvSpPr>
          <p:cNvPr id="3" name="Title 2"/>
          <p:cNvSpPr>
            <a:spLocks noGrp="1"/>
          </p:cNvSpPr>
          <p:nvPr>
            <p:ph type="title"/>
          </p:nvPr>
        </p:nvSpPr>
        <p:spPr/>
        <p:txBody>
          <a:bodyPr/>
          <a:lstStyle/>
          <a:p>
            <a:pPr>
              <a:defRPr b="1" sz="2800">
                <a:solidFill>
                  <a:srgbClr val="005495"/>
                </a:solidFill>
                <a:latin typeface="Arial"/>
              </a:defRPr>
            </a:pPr>
            <a:r>
              <a:t>6-слайд. Қорытынды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Сұрақтарыңыз болса, қоюларыңызға болады.</a:t>
            </a:r>
          </a:p>
          <a:p>
            <a:pPr>
              <a:spcAft>
                <a:spcPts val="800"/>
              </a:spcAft>
              <a:defRPr sz="1800">
                <a:latin typeface="Arial"/>
              </a:defRPr>
            </a:pPr>
            <a:r>
              <a:t>**Пайдаланылған әдебиеттер:**</a:t>
            </a:r>
          </a:p>
          <a:p>
            <a:pPr>
              <a:spcAft>
                <a:spcPts val="800"/>
              </a:spcAft>
              <a:defRPr sz="1800">
                <a:latin typeface="Arial"/>
              </a:defRPr>
            </a:pPr>
            <a:r>
              <a:t>*   Информатика 9 сынып. Авторы: Е.А.Вьюшкова, Н.В.Парастюк, Б.Қ.Ысқақов. "Арман-ПВ" баспасы, 2019 ж. (okulyk.kz сайтынан алынды)</a:t>
            </a:r>
          </a:p>
          <a:p>
            <a:pPr>
              <a:spcAft>
                <a:spcPts val="800"/>
              </a:spcAft>
              <a:defRPr sz="1800">
                <a:latin typeface="Arial"/>
              </a:defRPr>
            </a:pPr>
            <a:r>
              <a:t>*   Алгебра 9 сынып. Авторы: А.Е.Әбілқасымова, И.Бекбоев, А.Абдиев, З.Жұмағұлова. "Мектеп" баспасы, 2019 ж. (okulyk.kz сайтынан алынды)</a:t>
            </a:r>
          </a:p>
        </p:txBody>
      </p:sp>
      <p:sp>
        <p:nvSpPr>
          <p:cNvPr id="3" name="Title 2"/>
          <p:cNvSpPr>
            <a:spLocks noGrp="1"/>
          </p:cNvSpPr>
          <p:nvPr>
            <p:ph type="title"/>
          </p:nvPr>
        </p:nvSpPr>
        <p:spPr/>
        <p:txBody>
          <a:bodyPr/>
          <a:lstStyle/>
          <a:p>
            <a:pPr>
              <a:defRPr b="1" sz="2800">
                <a:solidFill>
                  <a:srgbClr val="005495"/>
                </a:solidFill>
                <a:latin typeface="Arial"/>
              </a:defRPr>
            </a:pPr>
            <a:r>
              <a:t>7-слайд. Сұрақтар мен жауаптар</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