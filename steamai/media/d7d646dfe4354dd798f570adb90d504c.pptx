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Информатика және алгебраның бірлескен мүмкіндіктері: Бір өлшемді массивтерді сандар тізбегін өңдеуде қолдану.</a:t>
            </a:r>
          </a:p>
          <a:p>
            <a:pPr>
              <a:spcAft>
                <a:spcPts val="800"/>
              </a:spcAft>
              <a:defRPr sz="1800">
                <a:latin typeface="Arial"/>
              </a:defRPr>
            </a:pPr>
            <a:r>
              <a:t>Кіріспе: Қазіргі заманда информатика мен математиканың, әсіресе алгебраның байланысы өте маңызды. Бұл екі пәннің интеграциясы оқушыларға күрделі мәселелерді шешудің тиімді жолдарын үйретеді. Презентациямызда бір өлшемді массивтерді алгебралық сандар тізбегін өңдеуде қалай қолдануға болатынын қарастырамыз.</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(немесе тізім): Бір типті деректердің реттелген жиынтығы. Әрбір элементтің өз индексі бар, ол арқылы элементке қол жеткізуге болады.</a:t>
            </a:r>
          </a:p>
          <a:p>
            <a:pPr>
              <a:spcAft>
                <a:spcPts val="800"/>
              </a:spcAft>
              <a:defRPr sz="1800">
                <a:latin typeface="Arial"/>
              </a:defRPr>
            </a:pPr>
            <a:r>
              <a:t>*   Сандар тізбегі: Белгілі бір заңдылық бойынша орналасқан сандардың жиынтығы (мысалы, арифметикалық прогрессия, геометриялық прогрессия).</a:t>
            </a:r>
          </a:p>
          <a:p>
            <a:pPr>
              <a:spcAft>
                <a:spcPts val="800"/>
              </a:spcAft>
              <a:defRPr sz="1800">
                <a:latin typeface="Arial"/>
              </a:defRPr>
            </a:pPr>
            <a:r>
              <a:t>*   Индекстеу: Массивтегі элементтің орнын анықтайтын реттік нөмір.</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Алгебрадағы сандар тізбегін зерттеу кезінде, оларды сақтау және өңдеу үшін информатиканың құралдары қажет. Бір өлшемді массивтер сандар тізбегін компьютер жадында сақтаудың тиімді тәсілі болып табылады. Массивтерді пайдаланып, сандар тізбегімен әртүрлі амалдар жасауға болады:</a:t>
            </a:r>
          </a:p>
          <a:p>
            <a:pPr>
              <a:spcAft>
                <a:spcPts val="800"/>
              </a:spcAft>
              <a:defRPr sz="1800">
                <a:latin typeface="Arial"/>
              </a:defRPr>
            </a:pPr>
            <a:r>
              <a:t>*   Элементтерді қосу, алу, көбейту, бөлу.</a:t>
            </a:r>
          </a:p>
          <a:p>
            <a:pPr>
              <a:spcAft>
                <a:spcPts val="800"/>
              </a:spcAft>
              <a:defRPr sz="1800">
                <a:latin typeface="Arial"/>
              </a:defRPr>
            </a:pPr>
            <a:r>
              <a:t>*   Элементтерді сұрыптау.</a:t>
            </a:r>
          </a:p>
          <a:p>
            <a:pPr>
              <a:spcAft>
                <a:spcPts val="800"/>
              </a:spcAft>
              <a:defRPr sz="1800">
                <a:latin typeface="Arial"/>
              </a:defRPr>
            </a:pPr>
            <a:r>
              <a:t>*   Белгілі бір шартқа сәйкес элементтерді іздеу.</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прогрессияны массивте сақтау және қосындысын табу.</a:t>
            </a:r>
          </a:p>
          <a:p>
            <a:pPr>
              <a:spcAft>
                <a:spcPts val="800"/>
              </a:spcAft>
              <a:defRPr sz="1800">
                <a:latin typeface="Arial"/>
              </a:defRPr>
            </a:pPr>
            <a:r>
              <a:t>Арифметикалық прогрессияның бірінші мүшесі (a1) = 2, айырмасы (d) = 3 болсын. Алғашқы 5 мүшені массивте сақтап, қосындысын табайық.</a:t>
            </a:r>
          </a:p>
          <a:p>
            <a:pPr>
              <a:spcAft>
                <a:spcPts val="800"/>
              </a:spcAft>
              <a:defRPr sz="1800">
                <a:latin typeface="Arial"/>
              </a:defRPr>
            </a:pPr>
            <a:r>
              <a:t>Python тіліндегі код:</a:t>
            </a:r>
          </a:p>
          <a:p>
            <a:pPr>
              <a:spcAft>
                <a:spcPts val="800"/>
              </a:spcAft>
              <a:defRPr sz="1800">
                <a:latin typeface="Arial"/>
              </a:defRPr>
            </a:pPr>
            <a:r>
              <a:t>```python</a:t>
            </a:r>
          </a:p>
          <a:p>
            <a:pPr>
              <a:spcAft>
                <a:spcPts val="800"/>
              </a:spcAft>
              <a:defRPr sz="1800">
                <a:latin typeface="Arial"/>
              </a:defRPr>
            </a:pPr>
            <a:r>
              <a:t>a1 = 2</a:t>
            </a:r>
          </a:p>
          <a:p>
            <a:pPr>
              <a:spcAft>
                <a:spcPts val="800"/>
              </a:spcAft>
              <a:defRPr sz="1800">
                <a:latin typeface="Arial"/>
              </a:defRPr>
            </a:pPr>
            <a:r>
              <a:t>d = 3</a:t>
            </a:r>
          </a:p>
          <a:p>
            <a:pPr>
              <a:spcAft>
                <a:spcPts val="800"/>
              </a:spcAft>
              <a:defRPr sz="1800">
                <a:latin typeface="Arial"/>
              </a:defRPr>
            </a:pPr>
            <a:r>
              <a:t>n = 5</a:t>
            </a:r>
          </a:p>
          <a:p>
            <a:pPr>
              <a:spcAft>
                <a:spcPts val="800"/>
              </a:spcAft>
              <a:defRPr sz="1800">
                <a:latin typeface="Arial"/>
              </a:defRPr>
            </a:pPr>
            <a:r>
              <a:t>array = []</a:t>
            </a:r>
          </a:p>
          <a:p>
            <a:pPr>
              <a:spcAft>
                <a:spcPts val="800"/>
              </a:spcAft>
              <a:defRPr sz="1800">
                <a:latin typeface="Arial"/>
              </a:defRPr>
            </a:pPr>
            <a:r>
              <a:t>for i in range(n):</a:t>
            </a:r>
          </a:p>
          <a:p>
            <a:pPr>
              <a:spcAft>
                <a:spcPts val="800"/>
              </a:spcAft>
              <a:defRPr sz="1800">
                <a:latin typeface="Arial"/>
              </a:defRPr>
            </a:pPr>
            <a:r>
              <a:t>array.append(a1 + i * d)</a:t>
            </a:r>
          </a:p>
          <a:p>
            <a:pPr>
              <a:spcAft>
                <a:spcPts val="800"/>
              </a:spcAft>
              <a:defRPr sz="1800">
                <a:latin typeface="Arial"/>
              </a:defRPr>
            </a:pPr>
            <a:r>
              <a:t>sum_array = sum(array)</a:t>
            </a:r>
          </a:p>
          <a:p>
            <a:pPr>
              <a:spcAft>
                <a:spcPts val="800"/>
              </a:spcAft>
              <a:defRPr sz="1800">
                <a:latin typeface="Arial"/>
              </a:defRPr>
            </a:pPr>
            <a:r>
              <a:t>print("Массив:", array)</a:t>
            </a:r>
          </a:p>
          <a:p>
            <a:pPr>
              <a:spcAft>
                <a:spcPts val="800"/>
              </a:spcAft>
              <a:defRPr sz="1800">
                <a:latin typeface="Arial"/>
              </a:defRPr>
            </a:pPr>
            <a:r>
              <a:t>print("Қосындысы:", sum_array)</a:t>
            </a:r>
          </a:p>
          <a:p>
            <a:pPr>
              <a:spcAft>
                <a:spcPts val="800"/>
              </a:spcAft>
              <a:defRPr sz="1800">
                <a:latin typeface="Arial"/>
              </a:defRPr>
            </a:pPr>
            <a:r>
              <a:t>```</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Практикалық қолданылуы:</a:t>
            </a:r>
          </a:p>
          <a:p>
            <a:pPr>
              <a:spcAft>
                <a:spcPts val="800"/>
              </a:spcAft>
              <a:defRPr sz="1800">
                <a:latin typeface="Arial"/>
              </a:defRPr>
            </a:pPr>
            <a:r>
              <a:t>*   Экономикалық есептеулер: Өндіріс көлемін, бағаларды және басқа да экономикалық көрсеткіштерді модельдеу.</a:t>
            </a:r>
          </a:p>
          <a:p>
            <a:pPr>
              <a:spcAft>
                <a:spcPts val="800"/>
              </a:spcAft>
              <a:defRPr sz="1800">
                <a:latin typeface="Arial"/>
              </a:defRPr>
            </a:pPr>
            <a:r>
              <a:t>*   Физикалық есептеулер: Қозғалыс заңдылықтарын, тербелістерді және толқындарды зерттеу.</a:t>
            </a:r>
          </a:p>
          <a:p>
            <a:pPr>
              <a:spcAft>
                <a:spcPts val="800"/>
              </a:spcAft>
              <a:defRPr sz="1800">
                <a:latin typeface="Arial"/>
              </a:defRPr>
            </a:pPr>
            <a:r>
              <a:t>*   Статистикалық талдау: Деректерді жинау, өңдеу және талдау.</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мен алгебраның интеграциясы оқушыларға ғылымның әртүрлі салаларында қолданылатын практикалық дағдыларды меңгеруге мүмкіндік береді. Бір өлшемді массивтерді сандар тізбегін өңдеуде қолдану - осы интеграцияның тиімді мысалы. Бұл тәсіл оқушылардың логикалық ойлау қабілетін дамытып, проблемаларды шешуге үйретеді.</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Информатика, 9 сынып, Б.Қ.Сағымбаева, Н.Е.Мадиева, "Арман-ПВ" баспасы, 2019.</a:t>
            </a:r>
          </a:p>
          <a:p>
            <a:pPr lvl="1">
              <a:spcAft>
                <a:spcPts val="800"/>
              </a:spcAft>
              <a:defRPr sz="1600">
                <a:latin typeface="Arial"/>
              </a:defRPr>
            </a:pPr>
            <a:r>
              <a:t>2.  Алгебра, 9 сынып, Ә.Н.Шыныбеков, Д.Ә.Шыныбеков, "Атамұра" баспасы, 2019. (okulyk.kz сайтынан алынды)</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