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 id="261" r:id="rId11"/>
    <p:sldId id="262" r:id="rId12"/>
    <p:sldId id="263" r:id="rId13"/>
    <p:sldId id="264" r:id="rId1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5" d="100"/>
          <a:sy n="95" d="100"/>
        </p:scale>
        <p:origin x="-1138"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
        <p:nvSpPr>
          <p:cNvPr id="7" name="Title 6"/>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9" name="Content Placeholder 8"/>
          <p:cNvSpPr>
            <a:spLocks noGrp="1"/>
          </p:cNvSpPr>
          <p:nvPr>
            <p:ph sz="quarter" idx="13"/>
          </p:nvPr>
        </p:nvSpPr>
        <p:spPr>
          <a:xfrm>
            <a:off x="676655"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t>16.05.2025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16.05.2025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4C71EC6-210F-42DE-9C53-41977AD35B3D}" type="datetimeFigureOut">
              <a:rPr lang="ru-RU" smtClean="0"/>
              <a:t>16.05.2025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ru-RU" smtClean="0"/>
              <a:t>Образец заголовка</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B4C71EC6-210F-42DE-9C53-41977AD35B3D}" type="datetimeFigureOut">
              <a:rPr lang="ru-RU" smtClean="0"/>
              <a:t>16.05.2025</a:t>
            </a:fld>
            <a:endParaRPr lang="ru-RU"/>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ru-RU"/>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19B0651-EE4F-4900-A07F-96A6BFA9D0F0}" type="slidenum">
              <a:rPr lang="ru-RU" smtClean="0"/>
              <a:t>‹#›</a:t>
            </a:fld>
            <a:endParaRPr lang="ru-RU"/>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369636279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Бір өлшемді массив, Алгебра, 9 сынып, сандар тізбегі</a:t>
            </a:r>
          </a:p>
        </p:txBody>
      </p:sp>
      <p:sp>
        <p:nvSpPr>
          <p:cNvPr id="3" name="Subtitle 2"/>
          <p:cNvSpPr>
            <a:spLocks noGrp="1"/>
          </p:cNvSpPr>
          <p:nvPr>
            <p:ph type="subTitle" idx="1"/>
          </p:nvPr>
        </p:nvSpPr>
        <p:spPr/>
        <p:txBody>
          <a:bodyPr/>
          <a:lstStyle/>
          <a:p>
            <a:r>
              <a:t>Автоматты түрде жасалған презентация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Тақырыбы: Информатика және жаратылыстану ғылымдарының байланысы: Бір өлшемді массивтерді алгебралық есептерді шешуде қолдану</a:t>
            </a:r>
          </a:p>
          <a:p>
            <a:pPr>
              <a:spcAft>
                <a:spcPts val="800"/>
              </a:spcAft>
              <a:defRPr sz="1800">
                <a:latin typeface="Arial"/>
              </a:defRPr>
            </a:pPr>
            <a:r>
              <a:t>Кіріспе:</a:t>
            </a:r>
          </a:p>
          <a:p>
            <a:pPr>
              <a:spcAft>
                <a:spcPts val="800"/>
              </a:spcAft>
              <a:defRPr sz="1800">
                <a:latin typeface="Arial"/>
              </a:defRPr>
            </a:pPr>
            <a:r>
              <a:t>Бүгінгі презентациямыздың мақсаты – информатика мен жаратылыстану ғылымдарының, әсіресе алгебра пәнінің арасындағы тығыз байланысты көрсету. Біз бір өлшемді массивтерді алгебралық есептерді шешуде қалай қолдануға болатынын қарастырамыз. Бұл байланыс оқушылардың пәндерді тереңірек түсінуіне және практикалық дағдыларын дамытуға көмектеседі.</a:t>
            </a:r>
          </a:p>
        </p:txBody>
      </p:sp>
      <p:sp>
        <p:nvSpPr>
          <p:cNvPr id="3" name="Title 2"/>
          <p:cNvSpPr>
            <a:spLocks noGrp="1"/>
          </p:cNvSpPr>
          <p:nvPr>
            <p:ph type="title"/>
          </p:nvPr>
        </p:nvSpPr>
        <p:spPr/>
        <p:txBody>
          <a:bodyPr/>
          <a:lstStyle/>
          <a:p>
            <a:pPr>
              <a:defRPr b="1" sz="2800">
                <a:solidFill>
                  <a:srgbClr val="005495"/>
                </a:solidFill>
                <a:latin typeface="Arial"/>
              </a:defRPr>
            </a:pPr>
            <a:r>
              <a:t>1-слайд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Негізгі ұғымдар:</a:t>
            </a:r>
          </a:p>
          <a:p>
            <a:pPr>
              <a:spcAft>
                <a:spcPts val="800"/>
              </a:spcAft>
              <a:defRPr sz="1800">
                <a:latin typeface="Arial"/>
              </a:defRPr>
            </a:pPr>
            <a:r>
              <a:t>*   Бір өлшемді массив: Бір типтегі мәліметтердің реттелген тізбегі. Әрбір элементтің индексі болады, ол арқылы элементке қатынауға болады. Мысалы, сандар тізбегі бір өлшемді массив болуы мүмкін.</a:t>
            </a:r>
          </a:p>
          <a:p>
            <a:pPr>
              <a:spcAft>
                <a:spcPts val="800"/>
              </a:spcAft>
              <a:defRPr sz="1800">
                <a:latin typeface="Arial"/>
              </a:defRPr>
            </a:pPr>
            <a:r>
              <a:t>*   Алгебра: Математиканың сандар мен олардың арасындағы амалдарды зерттейтін бөлімі. Алгебралық есептерді шешу үшін әртүрлі формулалар мен теңдеулер қолданылады.</a:t>
            </a:r>
          </a:p>
          <a:p>
            <a:pPr>
              <a:spcAft>
                <a:spcPts val="800"/>
              </a:spcAft>
              <a:defRPr sz="1800">
                <a:latin typeface="Arial"/>
              </a:defRPr>
            </a:pPr>
            <a:r>
              <a:t>*   Сандар тізбегі: Белгілі бір заңдылықпен реттелген сандар жиынтығы. Мысалы, арифметикалық прогрессия немесе геометриялық прогрессия.</a:t>
            </a:r>
          </a:p>
        </p:txBody>
      </p:sp>
      <p:sp>
        <p:nvSpPr>
          <p:cNvPr id="3" name="Title 2"/>
          <p:cNvSpPr>
            <a:spLocks noGrp="1"/>
          </p:cNvSpPr>
          <p:nvPr>
            <p:ph type="title"/>
          </p:nvPr>
        </p:nvSpPr>
        <p:spPr/>
        <p:txBody>
          <a:bodyPr/>
          <a:lstStyle/>
          <a:p>
            <a:pPr>
              <a:defRPr b="1" sz="2800">
                <a:solidFill>
                  <a:srgbClr val="005495"/>
                </a:solidFill>
                <a:latin typeface="Arial"/>
              </a:defRPr>
            </a:pPr>
            <a:r>
              <a:t>2-слайд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Пәндік байланыс:</a:t>
            </a:r>
          </a:p>
          <a:p>
            <a:pPr>
              <a:spcAft>
                <a:spcPts val="800"/>
              </a:spcAft>
              <a:defRPr sz="1800">
                <a:latin typeface="Arial"/>
              </a:defRPr>
            </a:pPr>
            <a:r>
              <a:t>Информатика мен алгебраның байланысы өте маңызды. Бір өлшемді массивтерді қолдану арқылы алгебралық есептерді компьютерлік бағдарламалар арқылы шешуге болады. Бұл әдіс есептеу процесін автоматтандыруға және үлкен көлемді деректермен жұмыс істеуге мүмкіндік береді. Мысалы, сандар тізбегін массивке сақтап, оның элементтерін әртүрлі математикалық амалдар арқылы өңдеуге болады.</a:t>
            </a:r>
          </a:p>
        </p:txBody>
      </p:sp>
      <p:sp>
        <p:nvSpPr>
          <p:cNvPr id="3" name="Title 2"/>
          <p:cNvSpPr>
            <a:spLocks noGrp="1"/>
          </p:cNvSpPr>
          <p:nvPr>
            <p:ph type="title"/>
          </p:nvPr>
        </p:nvSpPr>
        <p:spPr/>
        <p:txBody>
          <a:bodyPr/>
          <a:lstStyle/>
          <a:p>
            <a:pPr>
              <a:defRPr b="1" sz="2800">
                <a:solidFill>
                  <a:srgbClr val="005495"/>
                </a:solidFill>
                <a:latin typeface="Arial"/>
              </a:defRPr>
            </a:pPr>
            <a:r>
              <a:t>3-слайд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Мысал: Арифметикалық прогрессияны есептеу</a:t>
            </a:r>
          </a:p>
          <a:p>
            <a:pPr>
              <a:spcAft>
                <a:spcPts val="800"/>
              </a:spcAft>
              <a:defRPr sz="1800">
                <a:latin typeface="Arial"/>
              </a:defRPr>
            </a:pPr>
            <a:r>
              <a:t>Арифметикалық прогрессияның алғашқы n мүшесінің қосындысын табу есебін қарастырайық.</a:t>
            </a:r>
          </a:p>
          <a:p>
            <a:pPr lvl="1">
              <a:spcAft>
                <a:spcPts val="800"/>
              </a:spcAft>
              <a:defRPr sz="1600">
                <a:latin typeface="Arial"/>
              </a:defRPr>
            </a:pPr>
            <a:r>
              <a:t>1.  Арифметикалық прогрессияның бірінші мүшесін және айырмасын анықтаймыз.</a:t>
            </a:r>
          </a:p>
          <a:p>
            <a:pPr lvl="1">
              <a:spcAft>
                <a:spcPts val="800"/>
              </a:spcAft>
              <a:defRPr sz="1600">
                <a:latin typeface="Arial"/>
              </a:defRPr>
            </a:pPr>
            <a:r>
              <a:t>2.  Осы мәліметтерді массивке сақтаймыз.</a:t>
            </a:r>
          </a:p>
          <a:p>
            <a:pPr lvl="1">
              <a:spcAft>
                <a:spcPts val="800"/>
              </a:spcAft>
              <a:defRPr sz="1600">
                <a:latin typeface="Arial"/>
              </a:defRPr>
            </a:pPr>
            <a:r>
              <a:t>3.  Программалау тілінде (мысалы, Python) массив элементтерін қосу арқылы қосындыны есептейміз.</a:t>
            </a:r>
          </a:p>
          <a:p>
            <a:pPr>
              <a:spcAft>
                <a:spcPts val="800"/>
              </a:spcAft>
              <a:defRPr sz="1800">
                <a:latin typeface="Arial"/>
              </a:defRPr>
            </a:pPr>
            <a:r>
              <a:t>```python</a:t>
            </a:r>
          </a:p>
          <a:p>
            <a:pPr>
              <a:spcAft>
                <a:spcPts val="800"/>
              </a:spcAft>
              <a:defRPr sz="1800">
                <a:latin typeface="Arial"/>
              </a:defRPr>
            </a:pPr>
            <a:r>
              <a:t>def arifmetikalyq_progressiya_qosyndysy(a1, d, n):</a:t>
            </a:r>
          </a:p>
          <a:p>
            <a:pPr>
              <a:spcAft>
                <a:spcPts val="800"/>
              </a:spcAft>
              <a:defRPr sz="1800">
                <a:latin typeface="Arial"/>
              </a:defRPr>
            </a:pPr>
            <a:r>
              <a:t>"""Арифметикалық прогрессияның алғашқы n мүшесінің қосындысын есептейді."""</a:t>
            </a:r>
          </a:p>
          <a:p>
            <a:pPr>
              <a:spcAft>
                <a:spcPts val="800"/>
              </a:spcAft>
              <a:defRPr sz="1800">
                <a:latin typeface="Arial"/>
              </a:defRPr>
            </a:pPr>
            <a:r>
              <a:t>progressiya = [a1 + i * d for i in range(n)] #Массив құру</a:t>
            </a:r>
          </a:p>
          <a:p>
            <a:pPr>
              <a:spcAft>
                <a:spcPts val="800"/>
              </a:spcAft>
              <a:defRPr sz="1800">
                <a:latin typeface="Arial"/>
              </a:defRPr>
            </a:pPr>
            <a:r>
              <a:t>qosyndy = sum(progressiya) # Массив элементтерін қосу</a:t>
            </a:r>
          </a:p>
          <a:p>
            <a:pPr>
              <a:spcAft>
                <a:spcPts val="800"/>
              </a:spcAft>
              <a:defRPr sz="1800">
                <a:latin typeface="Arial"/>
              </a:defRPr>
            </a:pPr>
            <a:r>
              <a:t>return qosyndy</a:t>
            </a:r>
          </a:p>
          <a:p>
            <a:pPr>
              <a:spcAft>
                <a:spcPts val="800"/>
              </a:spcAft>
              <a:defRPr sz="1800">
                <a:latin typeface="Arial"/>
              </a:defRPr>
            </a:pPr>
            <a:r>
              <a:t>a1 = 2 # Бірінші мүше</a:t>
            </a:r>
          </a:p>
          <a:p>
            <a:pPr>
              <a:spcAft>
                <a:spcPts val="800"/>
              </a:spcAft>
              <a:defRPr sz="1800">
                <a:latin typeface="Arial"/>
              </a:defRPr>
            </a:pPr>
            <a:r>
              <a:t>d = 3 # Айырма</a:t>
            </a:r>
          </a:p>
          <a:p>
            <a:pPr>
              <a:spcAft>
                <a:spcPts val="800"/>
              </a:spcAft>
              <a:defRPr sz="1800">
                <a:latin typeface="Arial"/>
              </a:defRPr>
            </a:pPr>
            <a:r>
              <a:t>n = 10 # Мүшелер саны</a:t>
            </a:r>
          </a:p>
          <a:p>
            <a:pPr>
              <a:spcAft>
                <a:spcPts val="800"/>
              </a:spcAft>
              <a:defRPr sz="1800">
                <a:latin typeface="Arial"/>
              </a:defRPr>
            </a:pPr>
            <a:r>
              <a:t>qosyndy = arifmetikalyq_progressiya_qosyndysy(a1, d, n)</a:t>
            </a:r>
          </a:p>
          <a:p>
            <a:pPr>
              <a:spcAft>
                <a:spcPts val="800"/>
              </a:spcAft>
              <a:defRPr sz="1800">
                <a:latin typeface="Arial"/>
              </a:defRPr>
            </a:pPr>
            <a:r>
              <a:t>print(f"Арифметикалық прогрессияның алғашқы {n} мүшесінің қосындысы: {qosyndy}")</a:t>
            </a:r>
          </a:p>
          <a:p>
            <a:pPr>
              <a:spcAft>
                <a:spcPts val="800"/>
              </a:spcAft>
              <a:defRPr sz="1800">
                <a:latin typeface="Arial"/>
              </a:defRPr>
            </a:pPr>
            <a:r>
              <a:t>```</a:t>
            </a:r>
          </a:p>
        </p:txBody>
      </p:sp>
      <p:sp>
        <p:nvSpPr>
          <p:cNvPr id="3" name="Title 2"/>
          <p:cNvSpPr>
            <a:spLocks noGrp="1"/>
          </p:cNvSpPr>
          <p:nvPr>
            <p:ph type="title"/>
          </p:nvPr>
        </p:nvSpPr>
        <p:spPr/>
        <p:txBody>
          <a:bodyPr/>
          <a:lstStyle/>
          <a:p>
            <a:pPr>
              <a:defRPr b="1" sz="2800">
                <a:solidFill>
                  <a:srgbClr val="005495"/>
                </a:solidFill>
                <a:latin typeface="Arial"/>
              </a:defRPr>
            </a:pPr>
            <a:r>
              <a:t>4-слайд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Практикалық қолданысы:</a:t>
            </a:r>
          </a:p>
          <a:p>
            <a:pPr>
              <a:spcAft>
                <a:spcPts val="800"/>
              </a:spcAft>
              <a:defRPr sz="1800">
                <a:latin typeface="Arial"/>
              </a:defRPr>
            </a:pPr>
            <a:r>
              <a:t>Бір өлшемді массивтерді алгебралық есептерді шешуде қолданудың практикалық маңызы зор. Ол:</a:t>
            </a:r>
          </a:p>
          <a:p>
            <a:pPr>
              <a:spcAft>
                <a:spcPts val="800"/>
              </a:spcAft>
              <a:defRPr sz="1800">
                <a:latin typeface="Arial"/>
              </a:defRPr>
            </a:pPr>
            <a:r>
              <a:t>*   Есептеулерді автоматтандыруға;</a:t>
            </a:r>
          </a:p>
          <a:p>
            <a:pPr>
              <a:spcAft>
                <a:spcPts val="800"/>
              </a:spcAft>
              <a:defRPr sz="1800">
                <a:latin typeface="Arial"/>
              </a:defRPr>
            </a:pPr>
            <a:r>
              <a:t>*   Үлкен көлемді деректермен жұмыс істеуге;</a:t>
            </a:r>
          </a:p>
          <a:p>
            <a:pPr>
              <a:spcAft>
                <a:spcPts val="800"/>
              </a:spcAft>
              <a:defRPr sz="1800">
                <a:latin typeface="Arial"/>
              </a:defRPr>
            </a:pPr>
            <a:r>
              <a:t>*   Математикалық модельдерді құруға;</a:t>
            </a:r>
          </a:p>
          <a:p>
            <a:pPr>
              <a:spcAft>
                <a:spcPts val="800"/>
              </a:spcAft>
              <a:defRPr sz="1800">
                <a:latin typeface="Arial"/>
              </a:defRPr>
            </a:pPr>
            <a:r>
              <a:t>*   Ғылыми зерттеулер жүргізуге мүмкіндік береді.</a:t>
            </a:r>
          </a:p>
          <a:p>
            <a:pPr>
              <a:spcAft>
                <a:spcPts val="800"/>
              </a:spcAft>
              <a:defRPr sz="1800">
                <a:latin typeface="Arial"/>
              </a:defRPr>
            </a:pPr>
            <a:r>
              <a:t>Мысалы, экономикалық болжамдар жасау, физикалық құбылыстарды модельдеу және т.б.</a:t>
            </a:r>
          </a:p>
        </p:txBody>
      </p:sp>
      <p:sp>
        <p:nvSpPr>
          <p:cNvPr id="3" name="Title 2"/>
          <p:cNvSpPr>
            <a:spLocks noGrp="1"/>
          </p:cNvSpPr>
          <p:nvPr>
            <p:ph type="title"/>
          </p:nvPr>
        </p:nvSpPr>
        <p:spPr/>
        <p:txBody>
          <a:bodyPr/>
          <a:lstStyle/>
          <a:p>
            <a:pPr>
              <a:defRPr b="1" sz="2800">
                <a:solidFill>
                  <a:srgbClr val="005495"/>
                </a:solidFill>
                <a:latin typeface="Arial"/>
              </a:defRPr>
            </a:pPr>
            <a:r>
              <a:t>5-слайд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Қорытынды:</a:t>
            </a:r>
          </a:p>
          <a:p>
            <a:pPr>
              <a:spcAft>
                <a:spcPts val="800"/>
              </a:spcAft>
              <a:defRPr sz="1800">
                <a:latin typeface="Arial"/>
              </a:defRPr>
            </a:pPr>
            <a:r>
              <a:t>Информатика мен жаратылыстану ғылымдарының, әсіресе алгебра пәнінің байланысы білім беру процесінде маңызды рөл атқарады. Бір өлшемді массивтерді алгебралық есептерді шешуде қолдану оқушылардың логикалық ойлауын, проблемаларды шешу қабілеттерін және практикалық дағдыларын дамытады. Бұл білім оларға болашақта әртүрлі салада табысты болуға көмектеседі.</a:t>
            </a:r>
          </a:p>
        </p:txBody>
      </p:sp>
      <p:sp>
        <p:nvSpPr>
          <p:cNvPr id="3" name="Title 2"/>
          <p:cNvSpPr>
            <a:spLocks noGrp="1"/>
          </p:cNvSpPr>
          <p:nvPr>
            <p:ph type="title"/>
          </p:nvPr>
        </p:nvSpPr>
        <p:spPr/>
        <p:txBody>
          <a:bodyPr/>
          <a:lstStyle/>
          <a:p>
            <a:pPr>
              <a:defRPr b="1" sz="2800">
                <a:solidFill>
                  <a:srgbClr val="005495"/>
                </a:solidFill>
                <a:latin typeface="Arial"/>
              </a:defRPr>
            </a:pPr>
            <a:r>
              <a:t>6-слайд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Сұрақтар мен жауаптар:</a:t>
            </a:r>
          </a:p>
          <a:p>
            <a:pPr>
              <a:spcAft>
                <a:spcPts val="800"/>
              </a:spcAft>
              <a:defRPr sz="1800">
                <a:latin typeface="Arial"/>
              </a:defRPr>
            </a:pPr>
            <a:r>
              <a:t>Сіздердің сұрақтарыңыз болса, қоюларыңызға болады.</a:t>
            </a:r>
          </a:p>
          <a:p>
            <a:pPr>
              <a:spcAft>
                <a:spcPts val="800"/>
              </a:spcAft>
              <a:defRPr sz="1800">
                <a:latin typeface="Arial"/>
              </a:defRPr>
            </a:pPr>
            <a:r>
              <a:t>Пайдаланылған әдебиеттер тізімі:</a:t>
            </a:r>
          </a:p>
          <a:p>
            <a:pPr lvl="1">
              <a:spcAft>
                <a:spcPts val="800"/>
              </a:spcAft>
              <a:defRPr sz="1600">
                <a:latin typeface="Arial"/>
              </a:defRPr>
            </a:pPr>
            <a:r>
              <a:t>1.  Информатика: 9-сынып оқулығы. Авторы: Бельгибаев Ө.А. – Алматы: "Мектеп" баспасы, 2019 ж.</a:t>
            </a:r>
          </a:p>
          <a:p>
            <a:pPr lvl="1">
              <a:spcAft>
                <a:spcPts val="800"/>
              </a:spcAft>
              <a:defRPr sz="1600">
                <a:latin typeface="Arial"/>
              </a:defRPr>
            </a:pPr>
            <a:r>
              <a:t>2.  Алгебра: 9-сынып оқулығы. Авторы: Ә.Е.Әбілқасымова, И.Бекбоев, А.Абдиев, З.Жұмағұлова – Алматы: "Мектеп" баспасы, 2019 ж.</a:t>
            </a:r>
          </a:p>
          <a:p>
            <a:pPr lvl="1">
              <a:spcAft>
                <a:spcPts val="800"/>
              </a:spcAft>
              <a:defRPr sz="1600">
                <a:latin typeface="Arial"/>
              </a:defRPr>
            </a:pPr>
            <a:r>
              <a:t>3. [Okulyk.kz](https://okulyk.kz) сайтындағы 9-сыныпқа арналған оқулықтар.</a:t>
            </a:r>
          </a:p>
        </p:txBody>
      </p:sp>
      <p:sp>
        <p:nvSpPr>
          <p:cNvPr id="3" name="Title 2"/>
          <p:cNvSpPr>
            <a:spLocks noGrp="1"/>
          </p:cNvSpPr>
          <p:nvPr>
            <p:ph type="title"/>
          </p:nvPr>
        </p:nvSpPr>
        <p:spPr/>
        <p:txBody>
          <a:bodyPr/>
          <a:lstStyle/>
          <a:p>
            <a:pPr>
              <a:defRPr b="1" sz="2800">
                <a:solidFill>
                  <a:srgbClr val="005495"/>
                </a:solidFill>
                <a:latin typeface="Arial"/>
              </a:defRPr>
            </a:pPr>
            <a:r>
              <a:t>7-слайд</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Волна">
  <a:themeElements>
    <a:clrScheme name="Волна">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Волна">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Волна">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0</Words>
  <Application>Microsoft Office PowerPoint</Application>
  <PresentationFormat>Экран (4:3)</PresentationFormat>
  <Paragraphs>0</Paragraphs>
  <Slides>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vt:i4>
      </vt:variant>
    </vt:vector>
  </HeadingPairs>
  <TitlesOfParts>
    <vt:vector size="2" baseType="lpstr">
      <vt:lpstr>Волна</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adile</cp:lastModifiedBy>
  <cp:revision>1</cp:revision>
  <dcterms:modified xsi:type="dcterms:W3CDTF">2025-05-16T13:14:50Z</dcterms:modified>
</cp:coreProperties>
</file>