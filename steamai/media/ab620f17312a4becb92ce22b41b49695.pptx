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массивтерді алгебралық есептерді шешуде қолдану"</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мен жаратылыстану ғылымдарының, атап айтқанда, алгебра пәнінің тығыз байланысын қарастырамыз. Біз 9-сынып алгебра курсында өтілетін сандар тізбегі және бір өлшемді массивтер ұғымдарын біріктіріп, олардың практикалық қолданысын көрсетеміз. Мақсатымыз – оқушылардың логикалық ойлау қабілетін дамыту, алгоритмдік ойлауды үйрету және пәнаралық байланысты терең түсінуге көмектесу.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типті элементтердің реттелген жиынтығы. Әрбір элементтің өз индексі болады, ол арқылы элементке қол жеткізуге болады. Мысалы, [1, 2, 3, 4, 5] – бүтін сандардан тұратын бір өлшемді массив.</a:t>
            </a:r>
          </a:p>
          <a:p>
            <a:pPr>
              <a:spcAft>
                <a:spcPts val="800"/>
              </a:spcAft>
              <a:defRPr sz="1800">
                <a:latin typeface="Arial"/>
              </a:defRPr>
            </a:pPr>
            <a:r>
              <a:t>*   Сандар тізбегі: Белгілі бір заңдылықпен реттелген сандардың жиынтығы. Мысалы, арифметикалық прогрессия (2, 4, 6, 8, ...) немесе геометриялық прогрессия (1, 2, 4, 8, ...).</a:t>
            </a:r>
          </a:p>
          <a:p>
            <a:pPr>
              <a:spcAft>
                <a:spcPts val="800"/>
              </a:spcAft>
              <a:defRPr sz="1800">
                <a:latin typeface="Arial"/>
              </a:defRPr>
            </a:pPr>
            <a:r>
              <a:t>*   Алгоритм: Қойылған мақсатқа жету үшін орындалатын әрекеттердің реті. Алгоритмдерді блок-схемалар немесе псевдокод арқылы көрсетуге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Алгебрадағы сандар тізбегі ұғымы информатикадағы бір өлшемді массивтермен тікелей байланысты. Массив – сандар тізбегін сақтау және өңдеу үшін қолданылатын құрылым. Мысалы, арифметикалық прогрессияның алғашқы n мүшесін массивте сақтап, олардың қосындысын табу алгоритмін құруға болады. Бұл есепті шешу үшін циклдік операторларды және массив элементтеріне қол жеткізуді қолдану қажет.</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прогрессияның қосындысын есептеу</a:t>
            </a:r>
          </a:p>
          <a:p>
            <a:pPr>
              <a:spcAft>
                <a:spcPts val="800"/>
              </a:spcAft>
              <a:defRPr sz="1800">
                <a:latin typeface="Arial"/>
              </a:defRPr>
            </a:pPr>
            <a:r>
              <a:t>Есеп: Арифметикалық прогрессияның бірінші мүшесі a1 және айырмасы d берілген. Прогрессияның алғашқы n мүшесінің қосындысын есептеу керек.</a:t>
            </a:r>
          </a:p>
          <a:p>
            <a:pPr>
              <a:spcAft>
                <a:spcPts val="800"/>
              </a:spcAft>
              <a:defRPr sz="1800">
                <a:latin typeface="Arial"/>
              </a:defRPr>
            </a:pPr>
            <a:r>
              <a:t>Шешу алгоритмі:</a:t>
            </a:r>
          </a:p>
          <a:p>
            <a:pPr lvl="1">
              <a:spcAft>
                <a:spcPts val="800"/>
              </a:spcAft>
              <a:defRPr sz="1600">
                <a:latin typeface="Arial"/>
              </a:defRPr>
            </a:pPr>
            <a:r>
              <a:t>1.  Массив құру: n элементтен тұратын массив құрып, оған арифметикалық прогрессияның алғашқы n мүшесін сақтаймыз.</a:t>
            </a:r>
          </a:p>
          <a:p>
            <a:pPr lvl="1">
              <a:spcAft>
                <a:spcPts val="800"/>
              </a:spcAft>
              <a:defRPr sz="1600">
                <a:latin typeface="Arial"/>
              </a:defRPr>
            </a:pPr>
            <a:r>
              <a:t>2.  Қосындыны есептеу: Массив элементтерін цикл арқылы өтіп, қосындыны есептейміз.</a:t>
            </a:r>
          </a:p>
          <a:p>
            <a:pPr>
              <a:spcAft>
                <a:spcPts val="800"/>
              </a:spcAft>
              <a:defRPr sz="1800">
                <a:latin typeface="Arial"/>
              </a:defRPr>
            </a:pPr>
            <a:r>
              <a:t>Псевдокод:</a:t>
            </a:r>
          </a:p>
          <a:p>
            <a:pPr>
              <a:spcAft>
                <a:spcPts val="800"/>
              </a:spcAft>
              <a:defRPr sz="1800">
                <a:latin typeface="Arial"/>
              </a:defRPr>
            </a:pPr>
            <a:r>
              <a:t>```</a:t>
            </a:r>
          </a:p>
          <a:p>
            <a:pPr>
              <a:spcAft>
                <a:spcPts val="800"/>
              </a:spcAft>
              <a:defRPr sz="1800">
                <a:latin typeface="Arial"/>
              </a:defRPr>
            </a:pPr>
            <a:r>
              <a:t>алг АрифметикалықПрогрессияҚосындысы</a:t>
            </a:r>
          </a:p>
          <a:p>
            <a:pPr>
              <a:spcAft>
                <a:spcPts val="800"/>
              </a:spcAft>
              <a:defRPr sz="1800">
                <a:latin typeface="Arial"/>
              </a:defRPr>
            </a:pPr>
            <a:r>
              <a:t>басы</a:t>
            </a:r>
          </a:p>
          <a:p>
            <a:pPr>
              <a:spcAft>
                <a:spcPts val="800"/>
              </a:spcAft>
              <a:defRPr sz="1800">
                <a:latin typeface="Arial"/>
              </a:defRPr>
            </a:pPr>
            <a:r>
              <a:t>енгізу a1, d, n</a:t>
            </a:r>
          </a:p>
          <a:p>
            <a:pPr>
              <a:spcAft>
                <a:spcPts val="800"/>
              </a:spcAft>
              <a:defRPr sz="1800">
                <a:latin typeface="Arial"/>
              </a:defRPr>
            </a:pPr>
            <a:r>
              <a:t>массив A[1..n]</a:t>
            </a:r>
          </a:p>
          <a:p>
            <a:pPr>
              <a:spcAft>
                <a:spcPts val="800"/>
              </a:spcAft>
              <a:defRPr sz="1800">
                <a:latin typeface="Arial"/>
              </a:defRPr>
            </a:pPr>
            <a:r>
              <a:t>қосынды := 0</a:t>
            </a:r>
          </a:p>
          <a:p>
            <a:pPr>
              <a:spcAft>
                <a:spcPts val="800"/>
              </a:spcAft>
              <a:defRPr sz="1800">
                <a:latin typeface="Arial"/>
              </a:defRPr>
            </a:pPr>
            <a:r>
              <a:t>цикл i 1-ден n-ге дейін</a:t>
            </a:r>
          </a:p>
          <a:p>
            <a:pPr>
              <a:spcAft>
                <a:spcPts val="800"/>
              </a:spcAft>
              <a:defRPr sz="1800">
                <a:latin typeface="Arial"/>
              </a:defRPr>
            </a:pPr>
            <a:r>
              <a:t>A[i] := a1 + (i - 1) * d</a:t>
            </a:r>
          </a:p>
          <a:p>
            <a:pPr>
              <a:spcAft>
                <a:spcPts val="800"/>
              </a:spcAft>
              <a:defRPr sz="1800">
                <a:latin typeface="Arial"/>
              </a:defRPr>
            </a:pPr>
            <a:r>
              <a:t>қосынды := қосынды + A[i]</a:t>
            </a:r>
          </a:p>
          <a:p>
            <a:pPr>
              <a:spcAft>
                <a:spcPts val="800"/>
              </a:spcAft>
              <a:defRPr sz="1800">
                <a:latin typeface="Arial"/>
              </a:defRPr>
            </a:pPr>
            <a:r>
              <a:t>соңы</a:t>
            </a:r>
          </a:p>
          <a:p>
            <a:pPr>
              <a:spcAft>
                <a:spcPts val="800"/>
              </a:spcAft>
              <a:defRPr sz="1800">
                <a:latin typeface="Arial"/>
              </a:defRPr>
            </a:pPr>
            <a:r>
              <a:t>шығару қосынды</a:t>
            </a:r>
          </a:p>
          <a:p>
            <a:pPr>
              <a:spcAft>
                <a:spcPts val="800"/>
              </a:spcAft>
              <a:defRPr sz="1800">
                <a:latin typeface="Arial"/>
              </a:defRPr>
            </a:pPr>
            <a:r>
              <a:t>соңы</a:t>
            </a:r>
          </a:p>
          <a:p>
            <a:pPr>
              <a:spcAft>
                <a:spcPts val="800"/>
              </a:spcAft>
              <a:defRPr sz="1800">
                <a:latin typeface="Arial"/>
              </a:defRPr>
            </a:pPr>
            <a:r>
              <a:t>```</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қолданыс:</a:t>
            </a:r>
          </a:p>
          <a:p>
            <a:pPr>
              <a:spcAft>
                <a:spcPts val="800"/>
              </a:spcAft>
              <a:defRPr sz="1800">
                <a:latin typeface="Arial"/>
              </a:defRPr>
            </a:pPr>
            <a:r>
              <a:t>Бұл байланыстың практикалық қолданысы өте кең. Мысалы:</a:t>
            </a:r>
          </a:p>
          <a:p>
            <a:pPr>
              <a:spcAft>
                <a:spcPts val="800"/>
              </a:spcAft>
              <a:defRPr sz="1800">
                <a:latin typeface="Arial"/>
              </a:defRPr>
            </a:pPr>
            <a:r>
              <a:t>*   Статистикалық мәліметтерді өңдеу: Бір өлшемді массивтерді әртүрлі статистикалық мәліметтерді сақтау және талдау үшін қолдануға болады (мысалы, температураның күнделікті өзгерісі).</a:t>
            </a:r>
          </a:p>
          <a:p>
            <a:pPr>
              <a:spcAft>
                <a:spcPts val="800"/>
              </a:spcAft>
              <a:defRPr sz="1800">
                <a:latin typeface="Arial"/>
              </a:defRPr>
            </a:pPr>
            <a:r>
              <a:t>*   Қаржылық есептеулер: Акциялардың бағасын немесе валюта бағамдарын сақтау және талдау үшін массивтерді қолдануға болады.</a:t>
            </a:r>
          </a:p>
          <a:p>
            <a:pPr>
              <a:spcAft>
                <a:spcPts val="800"/>
              </a:spcAft>
              <a:defRPr sz="1800">
                <a:latin typeface="Arial"/>
              </a:defRPr>
            </a:pPr>
            <a:r>
              <a:t>*   Компьютерлік ойындар: Ойын персонаждарының координаттарын немесе ойын объектілерінің параметрлерін сақтау үшін массивтерді қолдануға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жаратылыстану пәндерінің байланысы оқушылардың білім деңгейін арттырып, олардың сыни ойлау қабілетін дамытады. Бір өлшемді массивтерді алгебралық есептерді шешуде қолдану арқылы оқушылар алгоритмдік ойлауды үйреніп, практикалық дағдыларын жетілдіреді. Бұл білімдер оларға болашақта әртүрлі салаларда табысты болуға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Алгебра, 9 сынып, Ә.Е. Әбілқасымова, Т.П. Кучер, З.Ә. Жұмағұлова, "Мектеп" баспасы, 2019 жыл.</a:t>
            </a:r>
          </a:p>
          <a:p>
            <a:pPr lvl="1">
              <a:spcAft>
                <a:spcPts val="800"/>
              </a:spcAft>
              <a:defRPr sz="1600">
                <a:latin typeface="Arial"/>
              </a:defRPr>
            </a:pPr>
            <a:r>
              <a:t>2.  Информатика, 9 сынып, Б. Бурибаев, Н. Кольева, А. Махметова, "Атамұра" баспасы, 2019 жыл. (okulyk.kz сайтынан алынған)</a:t>
            </a:r>
          </a:p>
          <a:p>
            <a:pPr>
              <a:spcAft>
                <a:spcPts val="800"/>
              </a:spcAft>
              <a:defRPr sz="1800">
                <a:latin typeface="Arial"/>
              </a:defRPr>
            </a:pPr>
            <a:r>
              <a:t>Осы презентация сіздің сұрауыңызға толық жауап береді деп ойлаймын. Егер қандай да бір өзгерістер немесе қосымшалар қажет болса, хабарласыңыз.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