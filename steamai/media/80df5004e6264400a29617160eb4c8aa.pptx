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жаратылыстану пәндерінің өзара байланысы**</a:t>
            </a:r>
          </a:p>
          <a:p>
            <a:pPr>
              <a:spcAft>
                <a:spcPts val="800"/>
              </a:spcAft>
              <a:defRPr sz="1800">
                <a:latin typeface="Arial"/>
              </a:defRPr>
            </a:pPr>
            <a:r>
              <a:t>**Кіріспе:**</a:t>
            </a:r>
          </a:p>
          <a:p>
            <a:pPr>
              <a:spcAft>
                <a:spcPts val="800"/>
              </a:spcAft>
              <a:defRPr sz="1800">
                <a:latin typeface="Arial"/>
              </a:defRPr>
            </a:pPr>
            <a:r>
              <a:t>Қазіргі заманғы ғылым мен білім беру жүйесінде пәнаралық байланыстардың маңызы артып келеді. Әсіресе, информатика пәнінің жаратылыстану ғылымдарымен, атап айтқанда математика, физика, химия және биологиямен тығыз байланысы ерекше орын алады. Бұл презентацияда біз информатиканың жаратылыстану пәндеріндегі рөлін, олардың өзара қалай толықтыратынын және осы байланыстың білім алу мен ғылыми зерттеулердегі маңыздылығын қарастырамыз. Біз "бір өлшемді массив" және "сандар тізбегі" ұғымдары арқылы осы байланыстың нақты мысалын көрсетеміз.</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Бір өлшемді массив және Сандар тізбегі**</a:t>
            </a:r>
          </a:p>
          <a:p>
            <a:pPr>
              <a:spcAft>
                <a:spcPts val="800"/>
              </a:spcAft>
              <a:defRPr sz="1800">
                <a:latin typeface="Arial"/>
              </a:defRPr>
            </a:pPr>
            <a:r>
              <a:t>**Бір өлшемді массив (Информатика):**</a:t>
            </a:r>
          </a:p>
          <a:p>
            <a:pPr>
              <a:spcAft>
                <a:spcPts val="800"/>
              </a:spcAft>
              <a:defRPr sz="1800">
                <a:latin typeface="Arial"/>
              </a:defRPr>
            </a:pPr>
            <a:r>
              <a:t>Бір өлшемді массив – бұл информатикада деректерді сақтауға арналған ең қарапайым және жиі қолданылатын құрылымдардың бірі. Ол бір типті (мысалы, тек сандар немесе тек мәтіндер) деректердің реттелген жиынтығын білдіреді, мұнда әрбір элемент өзінің индексі арқылы қолжетімді болады. Мысалы, оқушылардың бағаларын, температура көрсеткіштерін немесе сандар тізбегін массив түрінде сақтауға болады. Массивтер деректерді тиімді өңдеуге және алгоритмдерді жүзеге асыруға мүмкіндік береді.</a:t>
            </a:r>
          </a:p>
          <a:p>
            <a:pPr>
              <a:spcAft>
                <a:spcPts val="800"/>
              </a:spcAft>
              <a:defRPr sz="1800">
                <a:latin typeface="Arial"/>
              </a:defRPr>
            </a:pPr>
            <a:r>
              <a:t>**Сандар тізбегі (Алгебра):**</a:t>
            </a:r>
          </a:p>
          <a:p>
            <a:pPr>
              <a:spcAft>
                <a:spcPts val="800"/>
              </a:spcAft>
              <a:defRPr sz="1800">
                <a:latin typeface="Arial"/>
              </a:defRPr>
            </a:pPr>
            <a:r>
              <a:t>Сандар тізбегі – бұл алгебра пәнінде оқытылатын математикалық ұғым. Ол белгілі бір заңдылықпен орналасқан сандардың реттелген жиынтығын білдіреді. Мысалы, жұп сандар тізбегі (2, 4, 6, 8, ...), тақ сандар тізбегі (1, 3, 5, 7, ...), немесе арифметикалық және геометриялық прогрессиялар сандар тізбегіне жатады. Әрбір тізбек мүшесінің өзінің реттік нөмірі болады және оны белгілі бір формула арқылы анықтауға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 Массив және Сандар тізбегі**</a:t>
            </a:r>
          </a:p>
          <a:p>
            <a:pPr>
              <a:spcAft>
                <a:spcPts val="800"/>
              </a:spcAft>
              <a:defRPr sz="1800">
                <a:latin typeface="Arial"/>
              </a:defRPr>
            </a:pPr>
            <a:r>
              <a:t>Информатикадағы "бір өлшемді массив" ұғымы алгебрадағы "сандар тізбегін" компьютерлік ортада модельдеудің және онымен жұмыс істеудің негізгі құралы болып табылады. Сандар тізбегінің әрбір мүшесін массивтің бір элементі ретінде қарастыруға болады.</a:t>
            </a:r>
          </a:p>
          <a:p>
            <a:pPr>
              <a:spcAft>
                <a:spcPts val="800"/>
              </a:spcAft>
              <a:defRPr sz="1800">
                <a:latin typeface="Arial"/>
              </a:defRPr>
            </a:pPr>
            <a:r>
              <a:t>**Мысал:** 9-сынып алгебра курсында оқытылатын арифметикалық прогрессияны алайық. Егер бірінші мүшесі $a_1 = 3$ және айырмасы $d = 2$ болса, тізбек $3, 5, 7, 9, 11, ...$ болады.</a:t>
            </a:r>
          </a:p>
          <a:p>
            <a:pPr>
              <a:spcAft>
                <a:spcPts val="800"/>
              </a:spcAft>
              <a:defRPr sz="1800">
                <a:latin typeface="Arial"/>
              </a:defRPr>
            </a:pPr>
            <a:r>
              <a:t>Информатикада бұл тізбекті бір өлшемді массив ретінде келесідей көрсетуге болады:</a:t>
            </a:r>
          </a:p>
          <a:p>
            <a:pPr>
              <a:spcAft>
                <a:spcPts val="800"/>
              </a:spcAft>
              <a:defRPr sz="1800">
                <a:latin typeface="Arial"/>
              </a:defRPr>
            </a:pPr>
            <a:r>
              <a:t>`A = [3, 5, 7, 9, 11]`</a:t>
            </a:r>
          </a:p>
          <a:p>
            <a:pPr>
              <a:spcAft>
                <a:spcPts val="800"/>
              </a:spcAft>
              <a:defRPr sz="1800">
                <a:latin typeface="Arial"/>
              </a:defRPr>
            </a:pPr>
            <a:r>
              <a:t>Мұнда `A[0]` немесе `A[1]` (бағдарламалау тіліне байланысты) бірінші мүшеге, `A[2]` екінші мүшеге сәйкес келеді. Осылайша, массивті қолдана отырып, біз тізбектің кез келген мүшесін оның индексі арқылы оңай тауып, тізбекке қатысты әртүрлі есептеулерді (мысалы, тізбек мүшелерінің қосындысын табу, берілген шартқа сәйкес элементтерді іздеу) бағдарламалау арқылы жүзеге асыра аламыз. Бұл математикалық теорияны практикалық есептеулермен байланыстырады.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**Информатиканың жаратылыстанудағы қолданысы**</a:t>
            </a:r>
          </a:p>
          <a:p>
            <a:pPr>
              <a:spcAft>
                <a:spcPts val="800"/>
              </a:spcAft>
              <a:defRPr sz="1800">
                <a:latin typeface="Arial"/>
              </a:defRPr>
            </a:pPr>
            <a:r>
              <a:t>Информатика жаратылыстану ғылымдарының дамуына зор үлес қосады, олардың әрқайсысында деректерді өңдеу, талдау және модельдеу үшін таптырмас құрал болып табылады:</a:t>
            </a:r>
          </a:p>
          <a:p>
            <a:pPr>
              <a:spcAft>
                <a:spcPts val="800"/>
              </a:spcAft>
              <a:defRPr sz="1800">
                <a:latin typeface="Arial"/>
              </a:defRPr>
            </a:pPr>
            <a:r>
              <a:t>*   **Математикада:** Информатика күрделі теңдеулерді шешуге, функцияларды график түрінде көрсетуге, статистикалық деректерді талдауға және математикалық модельдерді құруға көмектеседі. Мысалы, сандар тізбегін массив арқылы өңдеуден басқа, матрицалармен жұмыс істеу, дифференциалдық теңдеулерді сандық әдістермен шешу сияқты міндеттерді орындауға болады.</a:t>
            </a:r>
          </a:p>
          <a:p>
            <a:pPr>
              <a:spcAft>
                <a:spcPts val="800"/>
              </a:spcAft>
              <a:defRPr sz="1800">
                <a:latin typeface="Arial"/>
              </a:defRPr>
            </a:pPr>
            <a:r>
              <a:t>*   **Физикада:** Физикалық құбылыстарды модельдеу, эксперименттік деректерді өңдеу, күрделі есептеулерді жүргізу үшін бағдарламалау және компьютерлік симуляциялар қолданылады. Мысалы, қозғалыс траекториясын есептеу, ядролық реакцияларды модельдеу.</a:t>
            </a:r>
          </a:p>
          <a:p>
            <a:pPr>
              <a:spcAft>
                <a:spcPts val="800"/>
              </a:spcAft>
              <a:defRPr sz="1800">
                <a:latin typeface="Arial"/>
              </a:defRPr>
            </a:pPr>
            <a:r>
              <a:t>*   **Биологияда:** Генетикалық ақпаратты талдау, ДНҚ тізбектерін салыстыру, популяция динамикасын модельдеу және биоинформатикалық зерттеулерде информатиканың рөлі өте зор.</a:t>
            </a:r>
          </a:p>
          <a:p>
            <a:pPr>
              <a:spcAft>
                <a:spcPts val="800"/>
              </a:spcAft>
              <a:defRPr sz="1800">
                <a:latin typeface="Arial"/>
              </a:defRPr>
            </a:pPr>
            <a:r>
              <a:t>*   **Химияда:** Молекулалық құрылымдарды модельдеу, химиялық реакциялардың жылдамдығын есептеу, жаңа материалдардың қасиеттерін болжау үшін компьютерлік химия әдістері қолданылады.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**Информатиканың жаратылыстану ғылымдарындағы рөлі**</a:t>
            </a:r>
          </a:p>
          <a:p>
            <a:pPr>
              <a:spcAft>
                <a:spcPts val="800"/>
              </a:spcAft>
              <a:defRPr sz="1800">
                <a:latin typeface="Arial"/>
              </a:defRPr>
            </a:pPr>
            <a:r>
              <a:t>Информатика жаратылыстану ғылымдары үшін тек есептеу құралы ғана емес, сонымен қатар жаңа білім алудың және зерттеулер жүргізудің қуатты әдіснамалық негізі болып табылады. Оның негізгі рөлдері:</a:t>
            </a:r>
          </a:p>
          <a:p>
            <a:pPr>
              <a:spcAft>
                <a:spcPts val="800"/>
              </a:spcAft>
              <a:defRPr sz="1800">
                <a:latin typeface="Arial"/>
              </a:defRPr>
            </a:pPr>
            <a:r>
              <a:t>*   **Есептерді шешу құралы:** Күрделі математикалық, физикалық, химиялық және биологиялық есептерді қолмен шешу мүмкін болмаған жағдайда, информатика алгоритмдер мен бағдарламалар арқылы оларды тиімді шешуге мүмкіндік береді.</a:t>
            </a:r>
          </a:p>
          <a:p>
            <a:pPr>
              <a:spcAft>
                <a:spcPts val="800"/>
              </a:spcAft>
              <a:defRPr sz="1800">
                <a:latin typeface="Arial"/>
              </a:defRPr>
            </a:pPr>
            <a:r>
              <a:t>*   **Деректерді өңдеу және талдау:** Ғылыми эксперименттер барысында жиналған үлкен көлемдегі деректерді (Big Data) өңдеу, талдау және олардан маңызды заңдылықтарды анықтау үшін информатикалық құралдар қажет.</a:t>
            </a:r>
          </a:p>
          <a:p>
            <a:pPr>
              <a:spcAft>
                <a:spcPts val="800"/>
              </a:spcAft>
              <a:defRPr sz="1800">
                <a:latin typeface="Arial"/>
              </a:defRPr>
            </a:pPr>
            <a:r>
              <a:t>*   **Модельдеу және болжау:** Нақты әлемдегі құбылыстарды компьютерлік модельдер арқылы зерттеуге, олардың дамуын болжауға және әртүрлі сценарийлерді тексеруге мүмкіндік береді. Бұл қымбат немесе қауіпті эксперименттерді алмастыра алады.</a:t>
            </a:r>
          </a:p>
          <a:p>
            <a:pPr>
              <a:spcAft>
                <a:spcPts val="800"/>
              </a:spcAft>
              <a:defRPr sz="1800">
                <a:latin typeface="Arial"/>
              </a:defRPr>
            </a:pPr>
            <a:r>
              <a:t>*   **Ғылыми зерттеулерді жеделдету:** Информатика ғылыми зерттеулердің барлық кезеңдерін – деректерді жинаудан бастап, оларды талдауға, нәтижелерді визуализациялауға және жариялауға дейін – жеделдетіп, тиімділігін арттырады.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жаратылыстану пәндерінің өзара байланысы – бұл заманауи ғылым мен технологияның негізі. Информатика жаратылыстану ғылымдарына жаңа мүмкіндіктер ашып, күрделі мәселелерді шешуге, жаңа білімдерді ашуға және әлемді тереңірек түсінуге көмектеседі. Бір өлшемді массивтер арқылы сандар тізбегін модельдеу сияқты қарапайым мысалдардан бастап, күрделі ғылыми есептеулерге дейін, информатиканың рөлі баға жетпес.</a:t>
            </a:r>
          </a:p>
          <a:p>
            <a:pPr>
              <a:spcAft>
                <a:spcPts val="800"/>
              </a:spcAft>
              <a:defRPr sz="1800">
                <a:latin typeface="Arial"/>
              </a:defRPr>
            </a:pPr>
            <a:r>
              <a:t>Болашақ мамандар үшін, мейлі олар математик, физик, химик немесе биолог болсын, информатикалық сауаттылық пен бағдарламалау дағдылары қазіргі әлемде табысты болудың кілті болып табылады. Бұл пәнаралық интеграция білім берудің сапасын арттырып, оқушылардың сыни ойлау қабілетін және мәселе шешу дағдыларын дамытады.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**Информатика оқулығы.**</a:t>
            </a:r>
          </a:p>
          <a:p>
            <a:pPr>
              <a:spcAft>
                <a:spcPts val="800"/>
              </a:spcAft>
              <a:defRPr sz="1800">
                <a:latin typeface="Arial"/>
              </a:defRPr>
            </a:pPr>
            <a:r>
              <a:t>*   Сыныбы: 9-сынып</a:t>
            </a:r>
          </a:p>
          <a:p>
            <a:pPr>
              <a:spcAft>
                <a:spcPts val="800"/>
              </a:spcAft>
              <a:defRPr sz="1800">
                <a:latin typeface="Arial"/>
              </a:defRPr>
            </a:pPr>
            <a:r>
              <a:t>*   Авторлары: Қабылдаев А.Е., Қабылдаева Б.К. және т.б.</a:t>
            </a:r>
          </a:p>
          <a:p>
            <a:pPr>
              <a:spcAft>
                <a:spcPts val="800"/>
              </a:spcAft>
              <a:defRPr sz="1800">
                <a:latin typeface="Arial"/>
              </a:defRPr>
            </a:pPr>
            <a:r>
              <a:t>*   Баспасы: "Арман-ПВ" баспасы</a:t>
            </a:r>
          </a:p>
          <a:p>
            <a:pPr>
              <a:spcAft>
                <a:spcPts val="800"/>
              </a:spcAft>
              <a:defRPr sz="1800">
                <a:latin typeface="Arial"/>
              </a:defRPr>
            </a:pPr>
            <a:r>
              <a:t>*   Жылы: 2019 ж. (немесе соңғы басылым)</a:t>
            </a:r>
          </a:p>
          <a:p>
            <a:pPr>
              <a:spcAft>
                <a:spcPts val="800"/>
              </a:spcAft>
              <a:defRPr sz="1800">
                <a:latin typeface="Arial"/>
              </a:defRPr>
            </a:pPr>
            <a:r>
              <a:t>*   Сайты: okulyk.kz</a:t>
            </a:r>
          </a:p>
          <a:p>
            <a:pPr lvl="1">
              <a:spcAft>
                <a:spcPts val="800"/>
              </a:spcAft>
              <a:defRPr sz="1600">
                <a:latin typeface="Arial"/>
              </a:defRPr>
            </a:pPr>
            <a:r>
              <a:t>2.  **Алгебра оқулығы.**</a:t>
            </a:r>
          </a:p>
          <a:p>
            <a:pPr>
              <a:spcAft>
                <a:spcPts val="800"/>
              </a:spcAft>
              <a:defRPr sz="1800">
                <a:latin typeface="Arial"/>
              </a:defRPr>
            </a:pPr>
            <a:r>
              <a:t>*   Сыныбы: 9-сынып</a:t>
            </a:r>
          </a:p>
          <a:p>
            <a:pPr>
              <a:spcAft>
                <a:spcPts val="800"/>
              </a:spcAft>
              <a:defRPr sz="1800">
                <a:latin typeface="Arial"/>
              </a:defRPr>
            </a:pPr>
            <a:r>
              <a:t>*   Авторлары: Шыныбеков Ә.Н.</a:t>
            </a:r>
          </a:p>
          <a:p>
            <a:pPr>
              <a:spcAft>
                <a:spcPts val="800"/>
              </a:spcAft>
              <a:defRPr sz="1800">
                <a:latin typeface="Arial"/>
              </a:defRPr>
            </a:pPr>
            <a:r>
              <a:t>*   Баспасы: "Атамұра" баспасы</a:t>
            </a:r>
          </a:p>
          <a:p>
            <a:pPr>
              <a:spcAft>
                <a:spcPts val="800"/>
              </a:spcAft>
              <a:defRPr sz="1800">
                <a:latin typeface="Arial"/>
              </a:defRPr>
            </a:pPr>
            <a:r>
              <a:t>*   Жылы: 2019 ж. (немесе соңғы басылым)</a:t>
            </a:r>
          </a:p>
          <a:p>
            <a:pPr>
              <a:spcAft>
                <a:spcPts val="800"/>
              </a:spcAft>
              <a:defRPr sz="1800">
                <a:latin typeface="Arial"/>
              </a:defRPr>
            </a:pPr>
            <a:r>
              <a:t>*   Сайты: okulyk.kz</a:t>
            </a:r>
          </a:p>
          <a:p>
            <a:pPr lvl="1">
              <a:spcAft>
                <a:spcPts val="800"/>
              </a:spcAft>
              <a:defRPr sz="1600">
                <a:latin typeface="Arial"/>
              </a:defRPr>
            </a:pPr>
            <a:r>
              <a:t>---</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