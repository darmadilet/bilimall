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Бір өлшемді массивтер және сандар тізбектері: Информатика мен алгебраның байланысы*</a:t>
            </a:r>
          </a:p>
          <a:p>
            <a:pPr>
              <a:spcAft>
                <a:spcPts val="800"/>
              </a:spcAft>
              <a:defRPr sz="1800">
                <a:latin typeface="Arial"/>
              </a:defRPr>
            </a:pPr>
            <a:r>
              <a:t>Құрметті оқушылар мен ұстаздар! Бүгінгі презентациямызда информатика мен алгебра пәндерінің арасындағы тығыз байланысты қарастырамыз. Атап айтқанда, бір өлшемді массивтер және сандар тізбектері ұғымдарының екі пән үшін де маңыздылығын ашып көрсетеміз. Бұл біздің 9-сыныпта алатын біліміміздің маңызды бөлігі.</a:t>
            </a:r>
          </a:p>
        </p:txBody>
      </p:sp>
      <p:sp>
        <p:nvSpPr>
          <p:cNvPr id="3" name="Title 2"/>
          <p:cNvSpPr>
            <a:spLocks noGrp="1"/>
          </p:cNvSpPr>
          <p:nvPr>
            <p:ph type="title"/>
          </p:nvPr>
        </p:nvSpPr>
        <p:spPr/>
        <p:txBody>
          <a:bodyPr/>
          <a:lstStyle/>
          <a:p>
            <a:pPr>
              <a:defRPr b="1" sz="2800">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 Бір өлшемді массив*</a:t>
            </a:r>
          </a:p>
          <a:p>
            <a:pPr>
              <a:spcAft>
                <a:spcPts val="800"/>
              </a:spcAft>
              <a:defRPr sz="1800">
                <a:latin typeface="Arial"/>
              </a:defRPr>
            </a:pPr>
            <a:r>
              <a:t>Информатикада бір өлшемді массив – бұл бірдей типтегі элементтердің реттелген тізбегі. Массивтің әрбір элементінің өз индексі болады, ол элементтің массивтегі орнын көрсетеді. Мысалы, [1, 2, 3, 4, 5] – бүтін сандардан тұратын бір өлшемді массив. Массивтер деректерді сақтау және өңдеу үшін кеңінен қолданылады.</a:t>
            </a:r>
          </a:p>
        </p:txBody>
      </p:sp>
      <p:sp>
        <p:nvSpPr>
          <p:cNvPr id="3" name="Title 2"/>
          <p:cNvSpPr>
            <a:spLocks noGrp="1"/>
          </p:cNvSpPr>
          <p:nvPr>
            <p:ph type="title"/>
          </p:nvPr>
        </p:nvSpPr>
        <p:spPr/>
        <p:txBody>
          <a:bodyPr/>
          <a:lstStyle/>
          <a:p>
            <a:pPr>
              <a:defRPr b="1" sz="2800">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 Сандар тізбегі*</a:t>
            </a:r>
          </a:p>
          <a:p>
            <a:pPr>
              <a:spcAft>
                <a:spcPts val="800"/>
              </a:spcAft>
              <a:defRPr sz="1800">
                <a:latin typeface="Arial"/>
              </a:defRPr>
            </a:pPr>
            <a:r>
              <a:t>Алгебрада сандар тізбегі – белгілі бір заңдылықпен реттелген сандардың жиынтығы. Сандар тізбегінің әрбір мүшесі тізбектің элементі деп аталады. Мысалы, 2, 4, 6, 8, ... – жұп сандар тізбегі. Сандар тізбектері арифметикалық, геометриялық және басқа да прогрессиялармен тығыз байланысты.</a:t>
            </a:r>
          </a:p>
        </p:txBody>
      </p:sp>
      <p:sp>
        <p:nvSpPr>
          <p:cNvPr id="3" name="Title 2"/>
          <p:cNvSpPr>
            <a:spLocks noGrp="1"/>
          </p:cNvSpPr>
          <p:nvPr>
            <p:ph type="title"/>
          </p:nvPr>
        </p:nvSpPr>
        <p:spPr/>
        <p:txBody>
          <a:bodyPr/>
          <a:lstStyle/>
          <a:p>
            <a:pPr>
              <a:defRPr b="1" sz="2800">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 Информатика және алгебра*</a:t>
            </a:r>
          </a:p>
          <a:p>
            <a:pPr>
              <a:spcAft>
                <a:spcPts val="800"/>
              </a:spcAft>
              <a:defRPr sz="1800">
                <a:latin typeface="Arial"/>
              </a:defRPr>
            </a:pPr>
            <a:r>
              <a:t>Бір өлшемді массивтер алгебралық сандар тізбектерін сақтау және өңдеу үшін таптырмас құрал болып табылады. Информатикада массивтерді қолдану арқылы біз сандар тізбектерімен байланысты есептерді тиімді шеше аламыз. Мысалы, арифметикалық прогрессияның n-ші мүшесін табу, геометриялық прогрессияның қосындысын есептеу, т.б.</a:t>
            </a:r>
          </a:p>
        </p:txBody>
      </p:sp>
      <p:sp>
        <p:nvSpPr>
          <p:cNvPr id="3" name="Title 2"/>
          <p:cNvSpPr>
            <a:spLocks noGrp="1"/>
          </p:cNvSpPr>
          <p:nvPr>
            <p:ph type="title"/>
          </p:nvPr>
        </p:nvSpPr>
        <p:spPr/>
        <p:txBody>
          <a:bodyPr/>
          <a:lstStyle/>
          <a:p>
            <a:pPr>
              <a:defRPr b="1" sz="2800">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 Арифметикалық прогрессия*</a:t>
            </a:r>
          </a:p>
          <a:p>
            <a:pPr>
              <a:spcAft>
                <a:spcPts val="800"/>
              </a:spcAft>
              <a:defRPr sz="1800">
                <a:latin typeface="Arial"/>
              </a:defRPr>
            </a:pPr>
            <a:r>
              <a:t>Арифметикалық прогрессияның бірінші мүшесі 3, ал айырмасы 2 болсын. Алғашқы 10 мүшені массивке сақтап, қосындысын есептейік.</a:t>
            </a:r>
          </a:p>
          <a:p>
            <a:pPr>
              <a:spcAft>
                <a:spcPts val="800"/>
              </a:spcAft>
              <a:defRPr sz="1800">
                <a:latin typeface="Arial"/>
              </a:defRPr>
            </a:pPr>
            <a:r>
              <a:t>Информатикалық код (мысал):</a:t>
            </a:r>
          </a:p>
          <a:p>
            <a:pPr>
              <a:spcAft>
                <a:spcPts val="800"/>
              </a:spcAft>
              <a:defRPr sz="1800">
                <a:latin typeface="Arial"/>
              </a:defRPr>
            </a:pPr>
            <a:r>
              <a:t>```python</a:t>
            </a:r>
          </a:p>
          <a:p>
            <a:pPr>
              <a:spcAft>
                <a:spcPts val="800"/>
              </a:spcAft>
              <a:defRPr sz="1800">
                <a:latin typeface="Arial"/>
              </a:defRPr>
            </a:pPr>
            <a:r>
              <a:t>a = 3 # Бірінші мүше</a:t>
            </a:r>
          </a:p>
          <a:p>
            <a:pPr>
              <a:spcAft>
                <a:spcPts val="800"/>
              </a:spcAft>
              <a:defRPr sz="1800">
                <a:latin typeface="Arial"/>
              </a:defRPr>
            </a:pPr>
            <a:r>
              <a:t>d = 2 # Айырма</a:t>
            </a:r>
          </a:p>
          <a:p>
            <a:pPr>
              <a:spcAft>
                <a:spcPts val="800"/>
              </a:spcAft>
              <a:defRPr sz="1800">
                <a:latin typeface="Arial"/>
              </a:defRPr>
            </a:pPr>
            <a:r>
              <a:t>n = 10 # Мүшелер саны</a:t>
            </a:r>
          </a:p>
          <a:p>
            <a:pPr>
              <a:spcAft>
                <a:spcPts val="800"/>
              </a:spcAft>
              <a:defRPr sz="1800">
                <a:latin typeface="Arial"/>
              </a:defRPr>
            </a:pPr>
            <a:r>
              <a:t>array = []</a:t>
            </a:r>
          </a:p>
          <a:p>
            <a:pPr>
              <a:spcAft>
                <a:spcPts val="800"/>
              </a:spcAft>
              <a:defRPr sz="1800">
                <a:latin typeface="Arial"/>
              </a:defRPr>
            </a:pPr>
            <a:r>
              <a:t>sum = 0</a:t>
            </a:r>
          </a:p>
          <a:p>
            <a:pPr>
              <a:spcAft>
                <a:spcPts val="800"/>
              </a:spcAft>
              <a:defRPr sz="1800">
                <a:latin typeface="Arial"/>
              </a:defRPr>
            </a:pPr>
            <a:r>
              <a:t>for i in range(n):</a:t>
            </a:r>
          </a:p>
          <a:p>
            <a:pPr>
              <a:spcAft>
                <a:spcPts val="800"/>
              </a:spcAft>
              <a:defRPr sz="1800">
                <a:latin typeface="Arial"/>
              </a:defRPr>
            </a:pPr>
            <a:r>
              <a:t>term = a + i * d</a:t>
            </a:r>
          </a:p>
          <a:p>
            <a:pPr>
              <a:spcAft>
                <a:spcPts val="800"/>
              </a:spcAft>
              <a:defRPr sz="1800">
                <a:latin typeface="Arial"/>
              </a:defRPr>
            </a:pPr>
            <a:r>
              <a:t>array.append(term)</a:t>
            </a:r>
          </a:p>
          <a:p>
            <a:pPr>
              <a:spcAft>
                <a:spcPts val="800"/>
              </a:spcAft>
              <a:defRPr sz="1800">
                <a:latin typeface="Arial"/>
              </a:defRPr>
            </a:pPr>
            <a:r>
              <a:t>sum += term</a:t>
            </a:r>
          </a:p>
          <a:p>
            <a:pPr>
              <a:spcAft>
                <a:spcPts val="800"/>
              </a:spcAft>
              <a:defRPr sz="1800">
                <a:latin typeface="Arial"/>
              </a:defRPr>
            </a:pPr>
            <a:r>
              <a:t>print("Массив:", array)</a:t>
            </a:r>
          </a:p>
          <a:p>
            <a:pPr>
              <a:spcAft>
                <a:spcPts val="800"/>
              </a:spcAft>
              <a:defRPr sz="1800">
                <a:latin typeface="Arial"/>
              </a:defRPr>
            </a:pPr>
            <a:r>
              <a:t>print("Қосынды:", sum)</a:t>
            </a:r>
          </a:p>
          <a:p>
            <a:pPr>
              <a:spcAft>
                <a:spcPts val="800"/>
              </a:spcAft>
              <a:defRPr sz="1800">
                <a:latin typeface="Arial"/>
              </a:defRPr>
            </a:pPr>
            <a:r>
              <a:t>```</a:t>
            </a:r>
          </a:p>
          <a:p>
            <a:pPr>
              <a:spcAft>
                <a:spcPts val="800"/>
              </a:spcAft>
              <a:defRPr sz="1800">
                <a:latin typeface="Arial"/>
              </a:defRPr>
            </a:pPr>
            <a:r>
              <a:t>Бұл код арифметикалық прогрессияның алғашқы 10 мүшесін есептеп, массивке сақтайды және олардың қосындысын табады.</a:t>
            </a:r>
          </a:p>
        </p:txBody>
      </p:sp>
      <p:sp>
        <p:nvSpPr>
          <p:cNvPr id="3" name="Title 2"/>
          <p:cNvSpPr>
            <a:spLocks noGrp="1"/>
          </p:cNvSpPr>
          <p:nvPr>
            <p:ph type="title"/>
          </p:nvPr>
        </p:nvSpPr>
        <p:spPr/>
        <p:txBody>
          <a:bodyPr/>
          <a:lstStyle/>
          <a:p>
            <a:pPr>
              <a:defRPr b="1" sz="2800">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Информатика мен алгебра пәндерінің байланысы өте маңызды. Бір өлшемді массивтер алгебралық есептерді шешуде тиімді құрал болып табылады. Бұл байланысты терең түсіну бізге екі пәннен де жақсы нәтижелерге жетуге көмектеседі. Осы презентация барысында алған білімдеріңіз сіздерге жаңа мүмкіндіктер ашады деп сенемін.</a:t>
            </a:r>
          </a:p>
        </p:txBody>
      </p:sp>
      <p:sp>
        <p:nvSpPr>
          <p:cNvPr id="3" name="Title 2"/>
          <p:cNvSpPr>
            <a:spLocks noGrp="1"/>
          </p:cNvSpPr>
          <p:nvPr>
            <p:ph type="title"/>
          </p:nvPr>
        </p:nvSpPr>
        <p:spPr/>
        <p:txBody>
          <a:bodyPr/>
          <a:lstStyle/>
          <a:p>
            <a:pPr>
              <a:defRPr b="1" sz="2800">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a:t>
            </a:r>
          </a:p>
          <a:p>
            <a:pPr lvl="1">
              <a:spcAft>
                <a:spcPts val="800"/>
              </a:spcAft>
              <a:defRPr sz="1600">
                <a:latin typeface="Arial"/>
              </a:defRPr>
            </a:pPr>
            <a:r>
              <a:t>1.  Информатика. 9 сынып. Авторы: Е.А.Вьюшкова, Н.В.Сафронов, К.А.Каримов, Д.Н.Уваров. "Арман-ПВ" баспасы, 2019 жыл.</a:t>
            </a:r>
          </a:p>
          <a:p>
            <a:pPr lvl="1">
              <a:spcAft>
                <a:spcPts val="800"/>
              </a:spcAft>
              <a:defRPr sz="1600">
                <a:latin typeface="Arial"/>
              </a:defRPr>
            </a:pPr>
            <a:r>
              <a:t>2.  Алгебра. 9 сынып. Авторы: А.Е.Әбілқасымова, И.Бекбоев, А.Абдиев, З.Жұмағұлова. "Мектеп" баспасы, 2019 жыл.</a:t>
            </a:r>
          </a:p>
        </p:txBody>
      </p:sp>
      <p:sp>
        <p:nvSpPr>
          <p:cNvPr id="3" name="Title 2"/>
          <p:cNvSpPr>
            <a:spLocks noGrp="1"/>
          </p:cNvSpPr>
          <p:nvPr>
            <p:ph type="title"/>
          </p:nvPr>
        </p:nvSpPr>
        <p:spPr/>
        <p:txBody>
          <a:bodyPr/>
          <a:lstStyle/>
          <a:p>
            <a:pPr>
              <a:defRPr b="1" sz="2800">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